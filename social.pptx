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2192000"/>
  <p:embeddedFontLst>
    <p:embeddedFont>
      <p:font typeface="IBM Plex Sans"/>
      <p:regular r:id="rId24"/>
      <p:bold r:id="rId25"/>
      <p:italic r:id="rId26"/>
      <p:boldItalic r:id="rId27"/>
    </p:embeddedFont>
    <p:embeddedFont>
      <p:font typeface="Fraunces"/>
      <p:regular r:id="rId28"/>
      <p:bold r:id="rId29"/>
      <p:italic r:id="rId30"/>
      <p:boldItalic r:id="rId31"/>
    </p:embeddedFont>
    <p:embeddedFont>
      <p:font typeface="IBM Plex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08776F-C0AC-4067-8FC5-9607A05738ED}">
  <a:tblStyle styleId="{0308776F-C0AC-4067-8FC5-9607A05738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italic.fntdata"/><Relationship Id="rId25" Type="http://schemas.openxmlformats.org/officeDocument/2006/relationships/font" Target="fonts/IBMPlexSans-bold.fntdata"/><Relationship Id="rId28" Type="http://schemas.openxmlformats.org/officeDocument/2006/relationships/font" Target="fonts/Fraunces-regular.fntdata"/><Relationship Id="rId27" Type="http://schemas.openxmlformats.org/officeDocument/2006/relationships/font" Target="fonts/IBMPlex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raunce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raunces-boldItalic.fntdata"/><Relationship Id="rId30" Type="http://schemas.openxmlformats.org/officeDocument/2006/relationships/font" Target="fonts/Fraunces-italic.fntdata"/><Relationship Id="rId11" Type="http://schemas.openxmlformats.org/officeDocument/2006/relationships/slide" Target="slides/slide6.xml"/><Relationship Id="rId33" Type="http://schemas.openxmlformats.org/officeDocument/2006/relationships/font" Target="fonts/IBMPlexMono-bold.fntdata"/><Relationship Id="rId10" Type="http://schemas.openxmlformats.org/officeDocument/2006/relationships/slide" Target="slides/slide5.xml"/><Relationship Id="rId32" Type="http://schemas.openxmlformats.org/officeDocument/2006/relationships/font" Target="fonts/IBMPlexMono-regular.fntdata"/><Relationship Id="rId13" Type="http://schemas.openxmlformats.org/officeDocument/2006/relationships/slide" Target="slides/slide8.xml"/><Relationship Id="rId35" Type="http://schemas.openxmlformats.org/officeDocument/2006/relationships/font" Target="fonts/IBMPlexMono-boldItalic.fntdata"/><Relationship Id="rId12" Type="http://schemas.openxmlformats.org/officeDocument/2006/relationships/slide" Target="slides/slide7.xml"/><Relationship Id="rId34" Type="http://schemas.openxmlformats.org/officeDocument/2006/relationships/font" Target="fonts/IBMPlexMon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1–5, about 2 minutes). Introduce the group and the paper: published in Online Social Networks and Media, 2025, by researchers at SUPSI (Switzerland) and USC ISI. One-sentence pitch: instead of judging content after it spreads, the paper ranks USERS by how likely they are to spread misinformation, using three behavioral archetypes, and explains those rankings with SHAP.</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1–5, about 2 minutes). OPTIONAL hook slide — delete it if time is short. Open with a familiar example from the COVID-19 period, the same period as the paper's datasets. The quote is from the White House briefing of 23 April 2020; the next day Reckitt Benckiser, maker of Lysol and Dettol, said its products should never be administered into the human body. The point is not the person but the mechanism: a single account with enormous reach can turn a false claim into a viral one. That is exactly what this paper tries to anticipate — by ranking accounts, not posts.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Most moderation is reactive: action is triggered only after a post is flagged, often after it has already gone viral. Studies show false content spreads faster and more broadly than corrections. So the paper flips the perspective from content to users: can past behavior tell us which accounts are likely to spread misinformation next? That enables early-warning, proactive moderation.</a:t>
            </a:r>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Before the details, the big picture. Collect reshare data; label each shared link by its domain's NewsGuard credibility; compute archetype-based scores per user from the past; rank users either with one score per archetype or with a machine learning model that combines them; evaluate the ranking on the future network by removing top-ranked users; and finally explain the ML ranking with SHAP. The rest of the talk walks through these steps.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we introduce a formalization of three distinct behavioral archetypes that characterize users involved in the spread of misinformation</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we enhance a previously proposed influence metric — an Hindex-based score introduced by [18] — by making it time-aware, thus capturing temporal patterns in user activity.</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This refined metric, along with other archetype-specific scores, is integrated into a machine learning framework designed to estimate a user’s potential to disseminate misinformation</a:t>
            </a:r>
            <a:endParaRPr/>
          </a:p>
          <a:p>
            <a:pPr indent="0" lvl="0" marL="0" rtl="0" algn="l">
              <a:lnSpc>
                <a:spcPct val="115000"/>
              </a:lnSpc>
              <a:spcBef>
                <a:spcPts val="0"/>
              </a:spcBef>
              <a:spcAft>
                <a:spcPts val="0"/>
              </a:spcAft>
              <a:buClr>
                <a:schemeClr val="dk1"/>
              </a:buClr>
              <a:buSzPts val="1100"/>
              <a:buFont typeface="Arial"/>
              <a:buNone/>
            </a:pPr>
            <a:r>
              <a:rPr lang="en-US"/>
              <a:t>By combining features derived from multiple archetypes, the model captures interdependencies between behavioral traits while maintaining interpretability</a:t>
            </a:r>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a:t>
            </a:r>
            <a:r>
              <a:rPr lang="en-US"/>
              <a:t>Leveraging SHAP-based explainability methods, our approach enables the characterization of individual users in terms of their dominant archetypal behaviors</a:t>
            </a:r>
            <a:endParaRPr/>
          </a:p>
          <a:p>
            <a:pPr indent="0" lvl="0" marL="0" rtl="0" algn="l">
              <a:spcBef>
                <a:spcPts val="0"/>
              </a:spcBef>
              <a:spcAft>
                <a:spcPts val="0"/>
              </a:spcAft>
              <a:buNone/>
            </a:pPr>
            <a:r>
              <a:t/>
            </a:r>
            <a:endParaRPr/>
          </a:p>
        </p:txBody>
      </p:sp>
      <p:sp>
        <p:nvSpPr>
          <p:cNvPr id="60" name="Google Shape;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Credibility is assigned at the domain level using NewsGuard ratings; links to domains scoring 39 or less are low-credibility. Because the models only use the credibility label, the method would work for images or video too, given a credibility rating. Two datasets on the same topic but different scope: Italian vaccine discussion and a larger multilingual one. The credibility distribution is bimodal in both, with peaks at very low and very high credibility.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By leveraging two datasets that differ in scale, geographic focus, and linguistic diversity, we ensure that our evaluation captures variability in user behavior and information diffusion dynamics across distinct ecosystems.</a:t>
            </a:r>
            <a:endParaRPr/>
          </a:p>
          <a:p>
            <a:pPr indent="0" lvl="0" marL="0" rtl="0" algn="l">
              <a:spcBef>
                <a:spcPts val="0"/>
              </a:spcBef>
              <a:spcAft>
                <a:spcPts val="0"/>
              </a:spcAft>
              <a:buNone/>
            </a:pPr>
            <a:r>
              <a:t/>
            </a:r>
            <a:endParaRPr/>
          </a:p>
        </p:txBody>
      </p:sp>
      <p:sp>
        <p:nvSpPr>
          <p:cNvPr id="88" name="Google Shape;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Sara. (slides 6–9, about 2 minutes). The core idea of the paper: describe spreaders by behavior, not by identity or content. Amplifiers mostly retweet; coordinated accounts behave alike as a group, often in influence campaigns; super-spreaders create original content that goes viral. One user can belong to more than one archetype, and the approach works for both humans and bots.</a:t>
            </a:r>
            <a:endParaRP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Each archetype gets its own ranking. Amplifiers: simply count low-credibility reshares, or reward users who reshare early in the cascade. Coordinated accounts: build a co-reshare network where edges are the cosine similarity of users' resharing activity, then rank by eigenvector centrality or by the strongest edge. Super-spreaders: the state-of-the-art from DeVerna et al. uses retweets received — Influence Score and H-Index, where posts are treated like papers and reshares like citations. The paper's contribution is the time-aware versions, next slide.</a:t>
            </a:r>
            <a:endParaRPr/>
          </a:p>
        </p:txBody>
      </p:sp>
      <p:sp>
        <p:nvSpPr>
          <p:cNvPr id="135" name="Google Shape;13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Mohsen. The static Influence Score and H-Index are computed over one fixed window, which is arbitrary. The paper makes both time-aware. Split the observation period into slots of delta days, compute the score in each slot, and combine slots with an exponential moving average: the new value is alpha times the previous smoothed value plus one minus alpha times the current slot's score. TAI-Score smooths the Influence Score (total reshares received); TASH-Index smooths the H-Index. A higher alpha gives more weight to the past, a lower alpha to recent activity. Grid search on nDCG chose alpha 0.5 and 14-day slots for TASH, alpha 0.6 and 18 days for TAI. TASH is cheap, interpretable and can be updated incrementally with every reshare. </a:t>
            </a:r>
            <a:endParaRPr/>
          </a:p>
        </p:txBody>
      </p:sp>
      <p:sp>
        <p:nvSpPr>
          <p:cNvPr id="145" name="Google Shape;1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(slides 10–12, about 2 minutes). Beyond single-archetype scores, the authors ask whether combining them helps. Each user becomes a vector of the six archetype features. Ranking is framed as pointwise learning-to-rank: a regression that predicts a user's future "strength" in the misinformation reshare network. Random Forest performed best. The model is deliberately restricted to archetype features, so SHAP explanations map directly to archetypes. Data is split in time order, 80/20, so the model never sees the future.</a:t>
            </a:r>
            <a:endParaRPr/>
          </a:p>
        </p:txBody>
      </p:sp>
      <p:sp>
        <p:nvSpPr>
          <p:cNvPr id="166" name="Google Shape;16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To compare rankings fairly, the authors build the low-credibility reshare network from the unseen test period and remove users one by one following each ranking — simulating deplatforming. The curve shows how much misinformation remains. Quality@k is the fraction removed by the top k users; nDCG@k measures how well the predicted order matches the true order by node strength. The figure shows the optimal curve: a handful of users account for a large share of misinformation. Note: users seen only in the test set cannot be ranked, so about 2.9% of misinformation can never be removed.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whether a user with high misinformation dissemination is positioned before users with lower contribution.</a:t>
            </a:r>
            <a:endParaRPr/>
          </a:p>
        </p:txBody>
      </p:sp>
      <p:sp>
        <p:nvSpPr>
          <p:cNvPr id="191" name="Google Shape;19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Mohsen</a:t>
            </a:r>
            <a:r>
              <a:rPr lang="en-US"/>
              <a:t>. This compares the best method of each archetype against the optimal ranking. The left part of the curve matters most in practice, since platforms can only act on a few accounts. ML and TASH-Index — which is grounded in the super-spreader archetype — almost overlap and stay close to optimal. Why? The most impactful nodes have high strength (many incoming and outgoing reshares), and super-spreader scores capture exactly that. Repost Count and Coordination-Centrality alone perform much worse.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In practical terms, we are most interested in the early portion of each curve: the left-hand side indicates how much misinformation is mitigated by removing only the top-ranked users.</a:t>
            </a:r>
            <a:endParaRPr/>
          </a:p>
          <a:p>
            <a:pPr indent="0" lvl="0" marL="0" rtl="0" algn="l">
              <a:spcBef>
                <a:spcPts val="0"/>
              </a:spcBef>
              <a:spcAft>
                <a:spcPts val="0"/>
              </a:spcAft>
              <a:buClr>
                <a:schemeClr val="dk1"/>
              </a:buClr>
              <a:buSzPts val="1100"/>
              <a:buFont typeface="Arial"/>
              <a:buNone/>
            </a:pPr>
            <a:r>
              <a:rPr lang="en-US"/>
              <a:t>These removals assume complete blocking of users, without modeling the dynamic effects of moderation on user behavior or network structure.</a:t>
            </a:r>
            <a:endParaRPr/>
          </a:p>
          <a:p>
            <a:pPr indent="0" lvl="0" marL="0" rtl="0" algn="l">
              <a:spcBef>
                <a:spcPts val="0"/>
              </a:spcBef>
              <a:spcAft>
                <a:spcPts val="0"/>
              </a:spcAft>
              <a:buSzPts val="1100"/>
              <a:buNone/>
            </a:pPr>
            <a:r>
              <a:rPr lang="en-US"/>
              <a:t>Nodes with high strength, therefore, indicate users who are highly effective at spreading content and receive substantial engagement from others. Therefore, ranking strategies that prioritize such properties, such as the volume of reshares received, naturally result in better performance.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these results aligns with previous findings that show that a limited number of users (small 𝑘) is responsible for a large amount of misinformation (Pareto law)</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09" name="Google Shape;20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Mohammad. How to read the plot: each dot is a user; its color is the feature value, red high and blue low; its position is how much that feature pushed the user's predicted rank up (right) or down (left). Surprisingly, the most influential feature is Repost Count, an amplifier feature: users who frequently reshare low-credibility content are strongly pushed up. Next come TAI-Score and TASH-Index, the super-spreader features. Coordination features and the Early Reposter Index matter less overall.</a:t>
            </a:r>
            <a:endParaRPr/>
          </a:p>
        </p:txBody>
      </p:sp>
      <p:sp>
        <p:nvSpPr>
          <p:cNvPr id="223" name="Google Shape;22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Fig. 5 splits the SHAP analysis by rank interval. Each line is a user, built up feature by feature from the bottom to the final prediction; features are ordered by importance in that band. In the top 10, the model relies on TASH-Index and TAI-Score: the highest-ranked users behave like super-spreaders. Between 10 and 100, Repost Count and Coordination-Centrality start to matter: hybrid profiles. From 100 down, Repost Count dominates and coordination becomes more relevant: amplifiers and coordinated accounts. So super-spreaders ignite the spread, while amplifiers and coordinated accounts sustain it. Hand over to Mohsen.</a:t>
            </a:r>
            <a:endParaRPr/>
          </a:p>
        </p:txBody>
      </p:sp>
      <p:sp>
        <p:nvSpPr>
          <p:cNvPr id="240" name="Google Shape;24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(slides 17–21, about 2 minutes). In practice, the more data a method needs, the longer we wait before acting. The authors shrink the observation window from 255 to 30 days. TASH-Index stays remarkably stable and beats the plain H-Index everywhere. The pre-trained ML model also stays strong and only degrades at 30 days, when feature vectors become too sparse. Retraining ML from scratch on small windows makes it unstable. So TASH is a strong choice for early warning with little data.</a:t>
            </a:r>
            <a:endParaRPr/>
          </a:p>
        </p:txBody>
      </p:sp>
      <p:sp>
        <p:nvSpPr>
          <p:cNvPr id="261" name="Google Shape;26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Because SHAP tells us why a user is ranked high, platforms can match the intervention to the behavior. Top-ranked users who behave like super-spreaders could get targeted preventive actions: more moderation scrutiny, fact-checking overlays or temporary restrictions. Users further down, whose behavior is repetitive or coordinated resharing, are better handled with systemic measures: limiting how far their posts are amplified, adjusting recommendation exposure, or adding friction like share limits and warning prompts. The authors stress this is decision support in a human-in-the-loop system, with safeguards like auditability and appeal.</a:t>
            </a:r>
            <a:endParaRPr/>
          </a:p>
        </p:txBody>
      </p:sp>
      <p:sp>
        <p:nvSpPr>
          <p:cNvPr id="285" name="Google Shape;2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Limitations stated by the authors: APIs only expose direct reshares, not exposure; credibility comes from domain ratings; models can only rank users seen in training, so 2.9% of misinformation in VaccinItaly and 4.8% in Multilanguage can never be removed; and the dismantling is static, while real moderation changes behavior. Our own critique: the approach deliberately ignores intent, so an accidental sharer and a campaign account are treated the same — the authors suggest intent-aware methods as a complement; users who were active in training but silent in the test period get a ground-truth score of zero; a model pre-trained on one period may drift as behavior changes; and everything is tested on Twitter and COVID-19 only. Future work: TASH inside GNNs, adaptive tuning, multi-platform data with inductive models, and simulation environments for interventions.</a:t>
            </a:r>
            <a:endParaRPr/>
          </a:p>
        </p:txBody>
      </p:sp>
      <p:sp>
        <p:nvSpPr>
          <p:cNvPr id="307" name="Google Shape;30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a:t>
            </a:r>
            <a:r>
              <a:rPr lang="en-US"/>
              <a:t>Mohammad</a:t>
            </a:r>
            <a:r>
              <a:rPr lang="en-US"/>
              <a:t>. Three things to remember. First, misinformation is concentrated: a small group of super-spreaders starts it, and amplifiers and coordinated accounts keep it going. Second, temporal dynamics matter: TASH-Index is cheap, interpretable and robust, nearly as good as the ML model. Third, these rankings are meant as decision support in a human-in-the-loop system, with safeguards like auditability and appeal — not automatic bans.</a:t>
            </a:r>
            <a:endParaRPr/>
          </a:p>
        </p:txBody>
      </p:sp>
      <p:sp>
        <p:nvSpPr>
          <p:cNvPr id="325" name="Google Shape;32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Mohsen. Thank the audience and open the floor for questions.</a:t>
            </a:r>
            <a:endParaRPr/>
          </a:p>
        </p:txBody>
      </p:sp>
      <p:sp>
        <p:nvSpPr>
          <p:cNvPr id="338" name="Google Shape;33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15" name="Shape 15"/>
        <p:cNvGrpSpPr/>
        <p:nvPr/>
      </p:nvGrpSpPr>
      <p:grpSpPr>
        <a:xfrm>
          <a:off x="0" y="0"/>
          <a:ext cx="0" cy="0"/>
          <a:chOff x="0" y="0"/>
          <a:chExt cx="0" cy="0"/>
        </a:xfrm>
      </p:grpSpPr>
      <p:pic>
        <p:nvPicPr>
          <p:cNvPr descr="Network motif: one teal hub node spreading edges to surrounding nodes" id="16" name="Google Shape;16;p3"/>
          <p:cNvPicPr preferRelativeResize="0"/>
          <p:nvPr/>
        </p:nvPicPr>
        <p:blipFill rotWithShape="1">
          <a:blip r:embed="rId3">
            <a:alphaModFix/>
          </a:blip>
          <a:srcRect b="0" l="0" r="0" t="0"/>
          <a:stretch/>
        </p:blipFill>
        <p:spPr>
          <a:xfrm>
            <a:off x="8636000" y="698500"/>
            <a:ext cx="2794000" cy="2794000"/>
          </a:xfrm>
          <a:prstGeom prst="rect">
            <a:avLst/>
          </a:prstGeom>
          <a:noFill/>
          <a:ln>
            <a:noFill/>
          </a:ln>
        </p:spPr>
      </p:pic>
      <p:sp>
        <p:nvSpPr>
          <p:cNvPr id="17" name="Google Shape;17;p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SOCIAL NETWORKS · PAPER PRESENTATION</a:t>
            </a:r>
            <a:endParaRPr b="0" i="0" sz="1200" u="none" cap="none" strike="noStrike">
              <a:solidFill>
                <a:schemeClr val="dk1"/>
              </a:solidFill>
              <a:latin typeface="Calibri"/>
              <a:ea typeface="Calibri"/>
              <a:cs typeface="Calibri"/>
              <a:sym typeface="Calibri"/>
            </a:endParaRPr>
          </a:p>
        </p:txBody>
      </p:sp>
      <p:sp>
        <p:nvSpPr>
          <p:cNvPr id="18" name="Google Shape;18;p3"/>
          <p:cNvSpPr/>
          <p:nvPr/>
        </p:nvSpPr>
        <p:spPr>
          <a:xfrm>
            <a:off x="812800" y="1649115"/>
            <a:ext cx="7717790" cy="22199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4F7FA"/>
              </a:buClr>
              <a:buSzPts val="4000"/>
              <a:buFont typeface="Fraunces"/>
              <a:buNone/>
            </a:pPr>
            <a:r>
              <a:rPr b="0" i="0" lang="en-US" sz="4000" u="none" cap="none" strike="noStrike">
                <a:solidFill>
                  <a:srgbClr val="F4F7FA"/>
                </a:solidFill>
                <a:latin typeface="Fraunces"/>
                <a:ea typeface="Fraunces"/>
                <a:cs typeface="Fraunces"/>
                <a:sym typeface="Fraunces"/>
              </a:rPr>
              <a:t>Predicting, evaluating, and explaining top misinformation spreaders via archetypal user behavior</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812800" y="4097619"/>
            <a:ext cx="7717800" cy="926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500"/>
              <a:buFont typeface="IBM Plex Sans"/>
              <a:buNone/>
            </a:pPr>
            <a:r>
              <a:t/>
            </a:r>
            <a:endParaRPr sz="1500">
              <a:solidFill>
                <a:srgbClr val="B8C4D1"/>
              </a:solidFill>
              <a:latin typeface="IBM Plex Sans"/>
              <a:ea typeface="IBM Plex Sans"/>
              <a:cs typeface="IBM Plex Sans"/>
              <a:sym typeface="IBM Plex Sans"/>
            </a:endParaRPr>
          </a:p>
          <a:p>
            <a:pPr indent="0" lvl="0" marL="0" marR="0" rtl="0" algn="l">
              <a:lnSpc>
                <a:spcPct val="140000"/>
              </a:lnSpc>
              <a:spcBef>
                <a:spcPts val="0"/>
              </a:spcBef>
              <a:spcAft>
                <a:spcPts val="0"/>
              </a:spcAft>
              <a:buClr>
                <a:srgbClr val="B8C4D1"/>
              </a:buClr>
              <a:buSzPts val="1500"/>
              <a:buFont typeface="IBM Plex Sans"/>
              <a:buNone/>
            </a:pPr>
            <a:r>
              <a:rPr b="0" i="0" lang="en-US" sz="1500" u="none" cap="none" strike="noStrike">
                <a:solidFill>
                  <a:srgbClr val="B8C4D1"/>
                </a:solidFill>
                <a:latin typeface="IBM Plex Sans"/>
                <a:ea typeface="IBM Plex Sans"/>
                <a:cs typeface="IBM Plex Sans"/>
                <a:sym typeface="IBM Plex Sans"/>
              </a:rPr>
              <a:t>Enrico Verdolotti, Luca Luceri, Silvia Giordano</a:t>
            </a:r>
            <a:endParaRPr b="0" i="0" sz="15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B8C4D1"/>
              </a:buClr>
              <a:buSzPts val="1500"/>
              <a:buFont typeface="IBM Plex Sans"/>
              <a:buNone/>
            </a:pPr>
            <a:r>
              <a:rPr b="0" i="1" lang="en-US" sz="1500" u="none" cap="none" strike="noStrike">
                <a:solidFill>
                  <a:srgbClr val="B8C4D1"/>
                </a:solidFill>
                <a:latin typeface="IBM Plex Sans"/>
                <a:ea typeface="IBM Plex Sans"/>
                <a:cs typeface="IBM Plex Sans"/>
                <a:sym typeface="IBM Plex Sans"/>
              </a:rPr>
              <a:t>Online Social Networks and Media</a:t>
            </a:r>
            <a:r>
              <a:rPr b="0" i="0" lang="en-US" sz="1500" u="none" cap="none" strike="noStrike">
                <a:solidFill>
                  <a:srgbClr val="B8C4D1"/>
                </a:solidFill>
                <a:latin typeface="IBM Plex Sans"/>
                <a:ea typeface="IBM Plex Sans"/>
                <a:cs typeface="IBM Plex Sans"/>
                <a:sym typeface="IBM Plex Sans"/>
              </a:rPr>
              <a:t> 50 (2025) 100336</a:t>
            </a:r>
            <a:endParaRPr b="0" i="0" sz="1500" u="none" cap="none" strike="noStrike">
              <a:solidFill>
                <a:schemeClr val="dk1"/>
              </a:solidFill>
              <a:latin typeface="Calibri"/>
              <a:ea typeface="Calibri"/>
              <a:cs typeface="Calibri"/>
              <a:sym typeface="Calibri"/>
            </a:endParaRPr>
          </a:p>
        </p:txBody>
      </p:sp>
      <p:cxnSp>
        <p:nvCxnSpPr>
          <p:cNvPr id="20" name="Google Shape;20;p3"/>
          <p:cNvCxnSpPr/>
          <p:nvPr/>
        </p:nvCxnSpPr>
        <p:spPr>
          <a:xfrm>
            <a:off x="812800" y="5257205"/>
            <a:ext cx="10566400" cy="0"/>
          </a:xfrm>
          <a:prstGeom prst="straightConnector1">
            <a:avLst/>
          </a:prstGeom>
          <a:noFill/>
          <a:ln cap="flat" cmpd="sng" w="9525">
            <a:solidFill>
              <a:srgbClr val="2A3A52"/>
            </a:solidFill>
            <a:prstDash val="solid"/>
            <a:round/>
            <a:headEnd len="sm" w="sm" type="none"/>
            <a:tailEnd len="sm" w="sm" type="none"/>
          </a:ln>
        </p:spPr>
      </p:cxnSp>
      <p:sp>
        <p:nvSpPr>
          <p:cNvPr id="21" name="Google Shape;21;p3"/>
          <p:cNvSpPr/>
          <p:nvPr/>
        </p:nvSpPr>
        <p:spPr>
          <a:xfrm>
            <a:off x="812800" y="54635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D8CA0"/>
              </a:buClr>
              <a:buSzPts val="1200"/>
              <a:buFont typeface="IBM Plex Sans"/>
              <a:buNone/>
            </a:pPr>
            <a:r>
              <a:rPr b="0" i="0" lang="en-US" sz="1200" u="none" cap="none" strike="noStrike">
                <a:solidFill>
                  <a:srgbClr val="7D8CA0"/>
                </a:solidFill>
                <a:latin typeface="IBM Plex Sans"/>
                <a:ea typeface="IBM Plex Sans"/>
                <a:cs typeface="IBM Plex Sans"/>
                <a:sym typeface="IBM Plex Sans"/>
              </a:rPr>
              <a:t>PRESENTED BY</a:t>
            </a:r>
            <a:endParaRPr b="0" i="0" sz="1200" u="none" cap="none" strike="noStrike">
              <a:solidFill>
                <a:schemeClr val="dk1"/>
              </a:solidFill>
              <a:latin typeface="Calibri"/>
              <a:ea typeface="Calibri"/>
              <a:cs typeface="Calibri"/>
              <a:sym typeface="Calibri"/>
            </a:endParaRPr>
          </a:p>
        </p:txBody>
      </p:sp>
      <p:sp>
        <p:nvSpPr>
          <p:cNvPr id="22" name="Google Shape;22;p3"/>
          <p:cNvSpPr/>
          <p:nvPr/>
        </p:nvSpPr>
        <p:spPr>
          <a:xfrm>
            <a:off x="812800" y="5778500"/>
            <a:ext cx="10883392"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500"/>
              <a:buFont typeface="IBM Plex Sans"/>
              <a:buNone/>
            </a:pPr>
            <a:r>
              <a:rPr lang="en-US" sz="1500">
                <a:solidFill>
                  <a:srgbClr val="F4F7FA"/>
                </a:solidFill>
                <a:latin typeface="IBM Plex Sans"/>
                <a:ea typeface="IBM Plex Sans"/>
                <a:cs typeface="IBM Plex Sans"/>
                <a:sym typeface="IBM Plex Sans"/>
              </a:rPr>
              <a:t>Mohsen Mohammadian . </a:t>
            </a:r>
            <a:r>
              <a:rPr b="0" i="0" lang="en-US" sz="1500" u="none" cap="none" strike="noStrike">
                <a:solidFill>
                  <a:srgbClr val="F4F7FA"/>
                </a:solidFill>
                <a:latin typeface="IBM Plex Sans"/>
                <a:ea typeface="IBM Plex Sans"/>
                <a:cs typeface="IBM Plex Sans"/>
                <a:sym typeface="IBM Plex Sans"/>
              </a:rPr>
              <a:t>Sara Tajernia · Fateme Valipourpasha · Mohammad Choupan · Mahdiye Ebrahimpour</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27" name="Shape 27"/>
        <p:cNvGrpSpPr/>
        <p:nvPr/>
      </p:nvGrpSpPr>
      <p:grpSpPr>
        <a:xfrm>
          <a:off x="0" y="0"/>
          <a:ext cx="0" cy="0"/>
          <a:chOff x="0" y="0"/>
          <a:chExt cx="0" cy="0"/>
        </a:xfrm>
      </p:grpSpPr>
      <p:sp>
        <p:nvSpPr>
          <p:cNvPr id="28" name="Google Shape;28;p4"/>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BEFORE WE START · COVID-19, APRIL 2020</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812800" y="2226965"/>
            <a:ext cx="9810900" cy="1397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3000"/>
              <a:buFont typeface="Fraunces"/>
              <a:buNone/>
            </a:pPr>
            <a:r>
              <a:rPr b="0" i="1" lang="en-US" sz="3000" u="none" cap="none" strike="noStrike">
                <a:solidFill>
                  <a:srgbClr val="F4F7FA"/>
                </a:solidFill>
                <a:latin typeface="Fraunces"/>
                <a:ea typeface="Fraunces"/>
                <a:cs typeface="Fraunces"/>
                <a:sym typeface="Fraunces"/>
              </a:rPr>
              <a:t>“I see the disinfectant, where it knocks it out in a minute… And is there a way we can do something like that, by injection inside or almost a cleaning.”</a:t>
            </a:r>
            <a:endParaRPr b="0" i="0" sz="3000" u="none" cap="none" strike="noStrike">
              <a:solidFill>
                <a:schemeClr val="dk1"/>
              </a:solidFill>
              <a:latin typeface="Calibri"/>
              <a:ea typeface="Calibri"/>
              <a:cs typeface="Calibri"/>
              <a:sym typeface="Calibri"/>
            </a:endParaRPr>
          </a:p>
        </p:txBody>
      </p:sp>
      <p:sp>
        <p:nvSpPr>
          <p:cNvPr id="30" name="Google Shape;30;p4"/>
          <p:cNvSpPr/>
          <p:nvPr/>
        </p:nvSpPr>
        <p:spPr>
          <a:xfrm>
            <a:off x="812800" y="3801765"/>
            <a:ext cx="98109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400"/>
              <a:buFont typeface="IBM Plex Sans"/>
              <a:buNone/>
            </a:pPr>
            <a:r>
              <a:rPr b="0" i="0" lang="en-US" sz="1400" u="none" cap="none" strike="noStrike">
                <a:solidFill>
                  <a:srgbClr val="B8C4D1"/>
                </a:solidFill>
                <a:latin typeface="IBM Plex Sans"/>
                <a:ea typeface="IBM Plex Sans"/>
                <a:cs typeface="IBM Plex Sans"/>
                <a:sym typeface="IBM Plex Sans"/>
              </a:rPr>
              <a:t>— Donald Trump, White House coronavirus briefing, 23 April 2020</a:t>
            </a:r>
            <a:endParaRPr b="0" i="0" sz="1400" u="none" cap="none" strike="noStrike">
              <a:solidFill>
                <a:schemeClr val="dk1"/>
              </a:solidFill>
              <a:latin typeface="Calibri"/>
              <a:ea typeface="Calibri"/>
              <a:cs typeface="Calibri"/>
              <a:sym typeface="Calibri"/>
            </a:endParaRPr>
          </a:p>
        </p:txBody>
      </p:sp>
      <p:cxnSp>
        <p:nvCxnSpPr>
          <p:cNvPr id="31" name="Google Shape;31;p4"/>
          <p:cNvCxnSpPr/>
          <p:nvPr/>
        </p:nvCxnSpPr>
        <p:spPr>
          <a:xfrm>
            <a:off x="812800" y="5254625"/>
            <a:ext cx="10566300" cy="0"/>
          </a:xfrm>
          <a:prstGeom prst="straightConnector1">
            <a:avLst/>
          </a:prstGeom>
          <a:noFill/>
          <a:ln cap="flat" cmpd="sng" w="9525">
            <a:solidFill>
              <a:srgbClr val="2A3A52"/>
            </a:solidFill>
            <a:prstDash val="solid"/>
            <a:round/>
            <a:headEnd len="sm" w="sm" type="none"/>
            <a:tailEnd len="sm" w="sm" type="none"/>
          </a:ln>
        </p:spPr>
      </p:cxnSp>
      <p:sp>
        <p:nvSpPr>
          <p:cNvPr id="32" name="Google Shape;32;p4"/>
          <p:cNvSpPr/>
          <p:nvPr/>
        </p:nvSpPr>
        <p:spPr>
          <a:xfrm>
            <a:off x="812800" y="5511800"/>
            <a:ext cx="5284800" cy="558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500"/>
              <a:buFont typeface="IBM Plex Sans"/>
              <a:buNone/>
            </a:pPr>
            <a:r>
              <a:rPr b="0" i="0" lang="en-US" sz="1500" u="none" cap="none" strike="noStrike">
                <a:solidFill>
                  <a:srgbClr val="B8C4D1"/>
                </a:solidFill>
                <a:latin typeface="IBM Plex Sans"/>
                <a:ea typeface="IBM Plex Sans"/>
                <a:cs typeface="IBM Plex Sans"/>
                <a:sym typeface="IBM Plex Sans"/>
              </a:rPr>
              <a:t>Next day, the maker of Lysol and Dettol warned that its disinfectants must never be put into the human body.</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6248400" y="5511800"/>
            <a:ext cx="5284800" cy="558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500"/>
              <a:buFont typeface="IBM Plex Sans"/>
              <a:buNone/>
            </a:pPr>
            <a:r>
              <a:rPr b="1" i="0" lang="en-US" sz="1500" u="none" cap="none" strike="noStrike">
                <a:solidFill>
                  <a:srgbClr val="2DD4BF"/>
                </a:solidFill>
                <a:latin typeface="IBM Plex Sans"/>
                <a:ea typeface="IBM Plex Sans"/>
                <a:cs typeface="IBM Plex Sans"/>
                <a:sym typeface="IBM Plex Sans"/>
              </a:rPr>
              <a:t>One high-reach account can push a claim to millions in hours.</a:t>
            </a:r>
            <a:r>
              <a:rPr b="0" i="0" lang="en-US" sz="1500" u="none" cap="none" strike="noStrike">
                <a:solidFill>
                  <a:srgbClr val="F4F7FA"/>
                </a:solidFill>
                <a:latin typeface="IBM Plex Sans"/>
                <a:ea typeface="IBM Plex Sans"/>
                <a:cs typeface="IBM Plex Sans"/>
                <a:sym typeface="IBM Plex Sans"/>
              </a:rPr>
              <a:t> Can we spot such accounts before they do?</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8" name="Shape 38"/>
        <p:cNvGrpSpPr/>
        <p:nvPr/>
      </p:nvGrpSpPr>
      <p:grpSpPr>
        <a:xfrm>
          <a:off x="0" y="0"/>
          <a:ext cx="0" cy="0"/>
          <a:chOff x="0" y="0"/>
          <a:chExt cx="0" cy="0"/>
        </a:xfrm>
      </p:grpSpPr>
      <p:sp>
        <p:nvSpPr>
          <p:cNvPr id="39" name="Google Shape;39;p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MOTIVATION</a:t>
            </a:r>
            <a:endParaRPr b="0" i="0" sz="1200" u="none" cap="none" strike="noStrike">
              <a:solidFill>
                <a:schemeClr val="dk1"/>
              </a:solidFill>
              <a:latin typeface="Calibri"/>
              <a:ea typeface="Calibri"/>
              <a:cs typeface="Calibri"/>
              <a:sym typeface="Calibri"/>
            </a:endParaRPr>
          </a:p>
        </p:txBody>
      </p:sp>
      <p:sp>
        <p:nvSpPr>
          <p:cNvPr id="40" name="Google Shape;40;p5"/>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Moderation today arrives after the damage is done</a:t>
            </a:r>
            <a:endParaRPr b="0" i="0" sz="3200" u="none" cap="none" strike="noStrike">
              <a:solidFill>
                <a:schemeClr val="dk1"/>
              </a:solidFill>
              <a:latin typeface="Calibri"/>
              <a:ea typeface="Calibri"/>
              <a:cs typeface="Calibri"/>
              <a:sym typeface="Calibri"/>
            </a:endParaRPr>
          </a:p>
        </p:txBody>
      </p:sp>
      <p:sp>
        <p:nvSpPr>
          <p:cNvPr id="41" name="Google Shape;41;p5"/>
          <p:cNvSpPr/>
          <p:nvPr/>
        </p:nvSpPr>
        <p:spPr>
          <a:xfrm>
            <a:off x="812800" y="19570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01</a:t>
            </a:r>
            <a:endParaRPr b="0" i="0" sz="1200" u="none" cap="none" strike="noStrike">
              <a:solidFill>
                <a:schemeClr val="dk1"/>
              </a:solidFill>
              <a:latin typeface="Calibri"/>
              <a:ea typeface="Calibri"/>
              <a:cs typeface="Calibri"/>
              <a:sym typeface="Calibri"/>
            </a:endParaRPr>
          </a:p>
        </p:txBody>
      </p:sp>
      <p:sp>
        <p:nvSpPr>
          <p:cNvPr id="42" name="Google Shape;42;p5"/>
          <p:cNvSpPr/>
          <p:nvPr/>
        </p:nvSpPr>
        <p:spPr>
          <a:xfrm>
            <a:off x="1270000" y="1930350"/>
            <a:ext cx="3113127"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A misleading post is published</a:t>
            </a:r>
            <a:endParaRPr b="0" i="0" sz="1500" u="none" cap="none" strike="noStrike">
              <a:solidFill>
                <a:schemeClr val="dk1"/>
              </a:solidFill>
              <a:latin typeface="Calibri"/>
              <a:ea typeface="Calibri"/>
              <a:cs typeface="Calibri"/>
              <a:sym typeface="Calibri"/>
            </a:endParaRPr>
          </a:p>
        </p:txBody>
      </p:sp>
      <p:sp>
        <p:nvSpPr>
          <p:cNvPr id="43" name="Google Shape;43;p5"/>
          <p:cNvSpPr/>
          <p:nvPr/>
        </p:nvSpPr>
        <p:spPr>
          <a:xfrm>
            <a:off x="812800" y="23507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02</a:t>
            </a:r>
            <a:endParaRPr b="0" i="0" sz="1200" u="none" cap="none" strike="noStrike">
              <a:solidFill>
                <a:schemeClr val="dk1"/>
              </a:solidFill>
              <a:latin typeface="Calibri"/>
              <a:ea typeface="Calibri"/>
              <a:cs typeface="Calibri"/>
              <a:sym typeface="Calibri"/>
            </a:endParaRPr>
          </a:p>
        </p:txBody>
      </p:sp>
      <p:sp>
        <p:nvSpPr>
          <p:cNvPr id="44" name="Google Shape;44;p5"/>
          <p:cNvSpPr/>
          <p:nvPr/>
        </p:nvSpPr>
        <p:spPr>
          <a:xfrm>
            <a:off x="1270000" y="2324050"/>
            <a:ext cx="3389709"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It is reshared and spreads widely</a:t>
            </a:r>
            <a:endParaRPr b="0" i="0" sz="1500" u="none" cap="none" strike="noStrike">
              <a:solidFill>
                <a:schemeClr val="dk1"/>
              </a:solidFill>
              <a:latin typeface="Calibri"/>
              <a:ea typeface="Calibri"/>
              <a:cs typeface="Calibri"/>
              <a:sym typeface="Calibri"/>
            </a:endParaRPr>
          </a:p>
        </p:txBody>
      </p:sp>
      <p:sp>
        <p:nvSpPr>
          <p:cNvPr id="45" name="Google Shape;45;p5"/>
          <p:cNvSpPr/>
          <p:nvPr/>
        </p:nvSpPr>
        <p:spPr>
          <a:xfrm>
            <a:off x="812800" y="27444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03</a:t>
            </a:r>
            <a:endParaRPr b="0" i="0" sz="1200" u="none" cap="none" strike="noStrike">
              <a:solidFill>
                <a:schemeClr val="dk1"/>
              </a:solidFill>
              <a:latin typeface="Calibri"/>
              <a:ea typeface="Calibri"/>
              <a:cs typeface="Calibri"/>
              <a:sym typeface="Calibri"/>
            </a:endParaRPr>
          </a:p>
        </p:txBody>
      </p:sp>
      <p:sp>
        <p:nvSpPr>
          <p:cNvPr id="46" name="Google Shape;46;p5"/>
          <p:cNvSpPr/>
          <p:nvPr/>
        </p:nvSpPr>
        <p:spPr>
          <a:xfrm>
            <a:off x="1270000" y="2717750"/>
            <a:ext cx="36398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Users, filters or fact-checkers flag it</a:t>
            </a:r>
            <a:endParaRPr b="0" i="0" sz="1500" u="none" cap="none" strike="noStrike">
              <a:solidFill>
                <a:schemeClr val="dk1"/>
              </a:solidFill>
              <a:latin typeface="Calibri"/>
              <a:ea typeface="Calibri"/>
              <a:cs typeface="Calibri"/>
              <a:sym typeface="Calibri"/>
            </a:endParaRPr>
          </a:p>
        </p:txBody>
      </p:sp>
      <p:sp>
        <p:nvSpPr>
          <p:cNvPr id="47" name="Google Shape;47;p5"/>
          <p:cNvSpPr/>
          <p:nvPr/>
        </p:nvSpPr>
        <p:spPr>
          <a:xfrm>
            <a:off x="812800" y="3138140"/>
            <a:ext cx="355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Mono"/>
              <a:buNone/>
            </a:pPr>
            <a:r>
              <a:rPr b="0" i="0" lang="en-US" sz="1200" u="none" cap="none" strike="noStrike">
                <a:solidFill>
                  <a:srgbClr val="556372"/>
                </a:solidFill>
                <a:latin typeface="IBM Plex Mono"/>
                <a:ea typeface="IBM Plex Mono"/>
                <a:cs typeface="IBM Plex Mono"/>
                <a:sym typeface="IBM Plex Mono"/>
              </a:rPr>
              <a:t>04</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1270000" y="3111450"/>
            <a:ext cx="3076515"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500"/>
              <a:buFont typeface="IBM Plex Sans"/>
              <a:buNone/>
            </a:pPr>
            <a:r>
              <a:rPr b="0" i="0" lang="en-US" sz="1500" u="none" cap="none" strike="noStrike">
                <a:solidFill>
                  <a:srgbClr val="0F1B2D"/>
                </a:solidFill>
                <a:latin typeface="IBM Plex Sans"/>
                <a:ea typeface="IBM Plex Sans"/>
                <a:cs typeface="IBM Plex Sans"/>
                <a:sym typeface="IBM Plex Sans"/>
              </a:rPr>
              <a:t>Labeled, demoted or removed</a:t>
            </a:r>
            <a:endParaRPr b="0" i="0" sz="1500" u="none" cap="none" strike="noStrike">
              <a:solidFill>
                <a:schemeClr val="dk1"/>
              </a:solidFill>
              <a:latin typeface="Calibri"/>
              <a:ea typeface="Calibri"/>
              <a:cs typeface="Calibri"/>
              <a:sym typeface="Calibri"/>
            </a:endParaRPr>
          </a:p>
        </p:txBody>
      </p:sp>
      <p:cxnSp>
        <p:nvCxnSpPr>
          <p:cNvPr id="49" name="Google Shape;49;p5"/>
          <p:cNvCxnSpPr/>
          <p:nvPr/>
        </p:nvCxnSpPr>
        <p:spPr>
          <a:xfrm>
            <a:off x="825500" y="3505150"/>
            <a:ext cx="0" cy="533400"/>
          </a:xfrm>
          <a:prstGeom prst="straightConnector1">
            <a:avLst/>
          </a:prstGeom>
          <a:noFill/>
          <a:ln cap="flat" cmpd="sng" w="25400">
            <a:solidFill>
              <a:srgbClr val="0F766E"/>
            </a:solidFill>
            <a:prstDash val="solid"/>
            <a:round/>
            <a:headEnd len="sm" w="sm" type="none"/>
            <a:tailEnd len="sm" w="sm" type="none"/>
          </a:ln>
        </p:spPr>
      </p:cxnSp>
      <p:sp>
        <p:nvSpPr>
          <p:cNvPr id="50" name="Google Shape;50;p5"/>
          <p:cNvSpPr/>
          <p:nvPr/>
        </p:nvSpPr>
        <p:spPr>
          <a:xfrm>
            <a:off x="990600" y="3505150"/>
            <a:ext cx="531088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500"/>
              <a:buFont typeface="IBM Plex Sans"/>
              <a:buNone/>
            </a:pPr>
            <a:r>
              <a:rPr b="1" i="0" lang="en-US" sz="1500" u="none" cap="none" strike="noStrike">
                <a:solidFill>
                  <a:srgbClr val="0F766E"/>
                </a:solidFill>
                <a:latin typeface="IBM Plex Sans"/>
                <a:ea typeface="IBM Plex Sans"/>
                <a:cs typeface="IBM Plex Sans"/>
                <a:sym typeface="IBM Plex Sans"/>
              </a:rPr>
              <a:t>By step 4</a:t>
            </a:r>
            <a:r>
              <a:rPr b="0" i="0" lang="en-US" sz="1500" u="none" cap="none" strike="noStrike">
                <a:solidFill>
                  <a:srgbClr val="0F766E"/>
                </a:solidFill>
                <a:latin typeface="IBM Plex Sans"/>
                <a:ea typeface="IBM Plex Sans"/>
                <a:cs typeface="IBM Plex Sans"/>
                <a:sym typeface="IBM Plex Sans"/>
              </a:rPr>
              <a:t> it has already reached large audiences — false news spreads faster and wider than corrections.</a:t>
            </a:r>
            <a:endParaRPr b="0" i="0" sz="1500" u="none" cap="none" strike="noStrike">
              <a:solidFill>
                <a:schemeClr val="dk1"/>
              </a:solidFill>
              <a:latin typeface="Calibri"/>
              <a:ea typeface="Calibri"/>
              <a:cs typeface="Calibri"/>
              <a:sym typeface="Calibri"/>
            </a:endParaRPr>
          </a:p>
        </p:txBody>
      </p:sp>
      <p:sp>
        <p:nvSpPr>
          <p:cNvPr id="51" name="Google Shape;51;p5"/>
          <p:cNvSpPr/>
          <p:nvPr/>
        </p:nvSpPr>
        <p:spPr>
          <a:xfrm>
            <a:off x="6553200" y="1930350"/>
            <a:ext cx="4826000" cy="3911650"/>
          </a:xfrm>
          <a:prstGeom prst="roundRect">
            <a:avLst>
              <a:gd fmla="val 3247"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908800" y="2700089"/>
            <a:ext cx="42382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RESEARCH QUESTION</a:t>
            </a:r>
            <a:endParaRPr b="0" i="0" sz="1200" u="none" cap="none" strike="noStrike">
              <a:solidFill>
                <a:schemeClr val="dk1"/>
              </a:solidFill>
              <a:latin typeface="Calibri"/>
              <a:ea typeface="Calibri"/>
              <a:cs typeface="Calibri"/>
              <a:sym typeface="Calibri"/>
            </a:endParaRPr>
          </a:p>
        </p:txBody>
      </p:sp>
      <p:sp>
        <p:nvSpPr>
          <p:cNvPr id="53" name="Google Shape;53;p5"/>
          <p:cNvSpPr/>
          <p:nvPr/>
        </p:nvSpPr>
        <p:spPr>
          <a:xfrm>
            <a:off x="6908800" y="3116610"/>
            <a:ext cx="4238244" cy="1031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2200"/>
              <a:buFont typeface="Fraunces"/>
              <a:buNone/>
            </a:pPr>
            <a:r>
              <a:rPr b="0" i="1" lang="en-US" sz="2200" u="none" cap="none" strike="noStrike">
                <a:solidFill>
                  <a:srgbClr val="F4F7FA"/>
                </a:solidFill>
                <a:latin typeface="Fraunces"/>
                <a:ea typeface="Fraunces"/>
                <a:cs typeface="Fraunces"/>
                <a:sym typeface="Fraunces"/>
              </a:rPr>
              <a:t>“Does an account’s behavioral footprint reveal latent signals of misinformation risk?”</a:t>
            </a:r>
            <a:endParaRPr b="0" i="0" sz="2200" u="none" cap="none" strike="noStrike">
              <a:solidFill>
                <a:schemeClr val="dk1"/>
              </a:solidFill>
              <a:latin typeface="Calibri"/>
              <a:ea typeface="Calibri"/>
              <a:cs typeface="Calibri"/>
              <a:sym typeface="Calibri"/>
            </a:endParaRPr>
          </a:p>
        </p:txBody>
      </p:sp>
      <p:sp>
        <p:nvSpPr>
          <p:cNvPr id="54" name="Google Shape;54;p5"/>
          <p:cNvSpPr/>
          <p:nvPr/>
        </p:nvSpPr>
        <p:spPr>
          <a:xfrm>
            <a:off x="6908800" y="4325590"/>
            <a:ext cx="4238244"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400"/>
              <a:buFont typeface="IBM Plex Sans"/>
              <a:buNone/>
            </a:pPr>
            <a:r>
              <a:rPr b="0" i="0" lang="en-US" sz="1400" u="none" cap="none" strike="noStrike">
                <a:solidFill>
                  <a:srgbClr val="B8C4D1"/>
                </a:solidFill>
                <a:latin typeface="IBM Plex Sans"/>
                <a:ea typeface="IBM Plex Sans"/>
                <a:cs typeface="IBM Plex Sans"/>
                <a:sym typeface="IBM Plex Sans"/>
              </a:rPr>
              <a:t>Goal: </a:t>
            </a:r>
            <a:r>
              <a:rPr b="1" i="0" lang="en-US" sz="1400" u="none" cap="none" strike="noStrike">
                <a:solidFill>
                  <a:srgbClr val="F4F7FA"/>
                </a:solidFill>
                <a:latin typeface="IBM Plex Sans"/>
                <a:ea typeface="IBM Plex Sans"/>
                <a:cs typeface="IBM Plex Sans"/>
                <a:sym typeface="IBM Plex Sans"/>
              </a:rPr>
              <a:t>rank users</a:t>
            </a:r>
            <a:r>
              <a:rPr b="0" i="0" lang="en-US" sz="1400" u="none" cap="none" strike="noStrike">
                <a:solidFill>
                  <a:srgbClr val="B8C4D1"/>
                </a:solidFill>
                <a:latin typeface="IBM Plex Sans"/>
                <a:ea typeface="IBM Plex Sans"/>
                <a:cs typeface="IBM Plex Sans"/>
                <a:sym typeface="IBM Plex Sans"/>
              </a:rPr>
              <a:t> by their potential to spread misinformation, so platforms can act </a:t>
            </a:r>
            <a:r>
              <a:rPr b="1" i="0" lang="en-US" sz="1400" u="none" cap="none" strike="noStrike">
                <a:solidFill>
                  <a:srgbClr val="F4F7FA"/>
                </a:solidFill>
                <a:latin typeface="IBM Plex Sans"/>
                <a:ea typeface="IBM Plex Sans"/>
                <a:cs typeface="IBM Plex Sans"/>
                <a:sym typeface="IBM Plex Sans"/>
              </a:rPr>
              <a:t>before</a:t>
            </a:r>
            <a:r>
              <a:rPr b="0" i="0" lang="en-US" sz="1400" u="none" cap="none" strike="noStrike">
                <a:solidFill>
                  <a:srgbClr val="B8C4D1"/>
                </a:solidFill>
                <a:latin typeface="IBM Plex Sans"/>
                <a:ea typeface="IBM Plex Sans"/>
                <a:cs typeface="IBM Plex Sans"/>
                <a:sym typeface="IBM Plex Sans"/>
              </a:rPr>
              <a:t> content goes viral.</a:t>
            </a:r>
            <a:endParaRPr b="0" i="0" sz="1400" u="none" cap="none" strike="noStrike">
              <a:solidFill>
                <a:schemeClr val="dk1"/>
              </a:solidFill>
              <a:latin typeface="Calibri"/>
              <a:ea typeface="Calibri"/>
              <a:cs typeface="Calibri"/>
              <a:sym typeface="Calibri"/>
            </a:endParaRPr>
          </a:p>
        </p:txBody>
      </p:sp>
      <p:sp>
        <p:nvSpPr>
          <p:cNvPr id="55" name="Google Shape;55;p5"/>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56" name="Google Shape;56;p5"/>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61" name="Shape 61"/>
        <p:cNvGrpSpPr/>
        <p:nvPr/>
      </p:nvGrpSpPr>
      <p:grpSpPr>
        <a:xfrm>
          <a:off x="0" y="0"/>
          <a:ext cx="0" cy="0"/>
          <a:chOff x="0" y="0"/>
          <a:chExt cx="0" cy="0"/>
        </a:xfrm>
      </p:grpSpPr>
      <p:sp>
        <p:nvSpPr>
          <p:cNvPr id="62" name="Google Shape;62;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METHOD OVERVIEW</a:t>
            </a:r>
            <a:endParaRPr b="0" i="0" sz="1200" u="none" cap="none" strike="noStrike">
              <a:solidFill>
                <a:schemeClr val="dk1"/>
              </a:solidFill>
              <a:latin typeface="Calibri"/>
              <a:ea typeface="Calibri"/>
              <a:cs typeface="Calibri"/>
              <a:sym typeface="Calibri"/>
            </a:endParaRPr>
          </a:p>
        </p:txBody>
      </p:sp>
      <p:sp>
        <p:nvSpPr>
          <p:cNvPr id="63" name="Google Shape;63;p6"/>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The pipeline in six steps</a:t>
            </a:r>
            <a:endParaRPr b="0" i="0" sz="3200" u="none" cap="none" strike="noStrike">
              <a:solidFill>
                <a:schemeClr val="dk1"/>
              </a:solidFill>
              <a:latin typeface="Calibri"/>
              <a:ea typeface="Calibri"/>
              <a:cs typeface="Calibri"/>
              <a:sym typeface="Calibri"/>
            </a:endParaRPr>
          </a:p>
        </p:txBody>
      </p:sp>
      <p:sp>
        <p:nvSpPr>
          <p:cNvPr id="64" name="Google Shape;64;p6"/>
          <p:cNvSpPr/>
          <p:nvPr/>
        </p:nvSpPr>
        <p:spPr>
          <a:xfrm>
            <a:off x="812800" y="1879550"/>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1016000" y="20827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01</a:t>
            </a:r>
            <a:r>
              <a:rPr b="1" i="0" lang="en-US" sz="1400" u="none" cap="none" strike="noStrike">
                <a:solidFill>
                  <a:srgbClr val="0F1B2D"/>
                </a:solidFill>
                <a:latin typeface="IBM Plex Sans"/>
                <a:ea typeface="IBM Plex Sans"/>
                <a:cs typeface="IBM Plex Sans"/>
                <a:sym typeface="IBM Plex Sans"/>
              </a:rPr>
              <a:t> Collect</a:t>
            </a:r>
            <a:endParaRPr b="0" i="0" sz="1400" u="none" cap="none" strike="noStrike">
              <a:solidFill>
                <a:schemeClr val="dk1"/>
              </a:solidFill>
              <a:latin typeface="Calibri"/>
              <a:ea typeface="Calibri"/>
              <a:cs typeface="Calibri"/>
              <a:sym typeface="Calibri"/>
            </a:endParaRPr>
          </a:p>
        </p:txBody>
      </p:sp>
      <p:sp>
        <p:nvSpPr>
          <p:cNvPr id="66" name="Google Shape;66;p6"/>
          <p:cNvSpPr/>
          <p:nvPr/>
        </p:nvSpPr>
        <p:spPr>
          <a:xfrm>
            <a:off x="1016000" y="240784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COVID-19 reshares from Twitter: VaccinItaly and Multilanguage</a:t>
            </a:r>
            <a:endParaRPr b="0" i="0" sz="1300" u="none" cap="none" strike="noStrike">
              <a:solidFill>
                <a:schemeClr val="dk1"/>
              </a:solidFill>
              <a:latin typeface="Calibri"/>
              <a:ea typeface="Calibri"/>
              <a:cs typeface="Calibri"/>
              <a:sym typeface="Calibri"/>
            </a:endParaRPr>
          </a:p>
        </p:txBody>
      </p:sp>
      <p:sp>
        <p:nvSpPr>
          <p:cNvPr id="67" name="Google Shape;67;p6"/>
          <p:cNvSpPr/>
          <p:nvPr/>
        </p:nvSpPr>
        <p:spPr>
          <a:xfrm>
            <a:off x="4385717" y="1879550"/>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4588917" y="20827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02</a:t>
            </a:r>
            <a:r>
              <a:rPr b="1" i="0" lang="en-US" sz="1400" u="none" cap="none" strike="noStrike">
                <a:solidFill>
                  <a:srgbClr val="0F1B2D"/>
                </a:solidFill>
                <a:latin typeface="IBM Plex Sans"/>
                <a:ea typeface="IBM Plex Sans"/>
                <a:cs typeface="IBM Plex Sans"/>
                <a:sym typeface="IBM Plex Sans"/>
              </a:rPr>
              <a:t> Label</a:t>
            </a:r>
            <a:endParaRPr b="0" i="0" sz="1400" u="none" cap="none" strike="noStrike">
              <a:solidFill>
                <a:schemeClr val="dk1"/>
              </a:solidFill>
              <a:latin typeface="Calibri"/>
              <a:ea typeface="Calibri"/>
              <a:cs typeface="Calibri"/>
              <a:sym typeface="Calibri"/>
            </a:endParaRPr>
          </a:p>
        </p:txBody>
      </p:sp>
      <p:sp>
        <p:nvSpPr>
          <p:cNvPr id="69" name="Google Shape;69;p6"/>
          <p:cNvSpPr/>
          <p:nvPr/>
        </p:nvSpPr>
        <p:spPr>
          <a:xfrm>
            <a:off x="4588917" y="240784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Rate each URL’s domain with NewsGuard; ≤ 39 = low-credibility</a:t>
            </a:r>
            <a:endParaRPr b="0" i="0" sz="1300" u="none" cap="none" strike="noStrike">
              <a:solidFill>
                <a:schemeClr val="dk1"/>
              </a:solidFill>
              <a:latin typeface="Calibri"/>
              <a:ea typeface="Calibri"/>
              <a:cs typeface="Calibri"/>
              <a:sym typeface="Calibri"/>
            </a:endParaRPr>
          </a:p>
        </p:txBody>
      </p:sp>
      <p:sp>
        <p:nvSpPr>
          <p:cNvPr id="70" name="Google Shape;70;p6"/>
          <p:cNvSpPr/>
          <p:nvPr/>
        </p:nvSpPr>
        <p:spPr>
          <a:xfrm>
            <a:off x="7958634" y="1879550"/>
            <a:ext cx="3420566"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8161834" y="2082750"/>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03</a:t>
            </a:r>
            <a:r>
              <a:rPr b="1" i="0" lang="en-US" sz="1400" u="none" cap="none" strike="noStrike">
                <a:solidFill>
                  <a:srgbClr val="0F1B2D"/>
                </a:solidFill>
                <a:latin typeface="IBM Plex Sans"/>
                <a:ea typeface="IBM Plex Sans"/>
                <a:cs typeface="IBM Plex Sans"/>
                <a:sym typeface="IBM Plex Sans"/>
              </a:rPr>
              <a:t> Score</a:t>
            </a:r>
            <a:endParaRPr b="0" i="0" sz="1400" u="none" cap="none" strike="noStrike">
              <a:solidFill>
                <a:schemeClr val="dk1"/>
              </a:solidFill>
              <a:latin typeface="Calibri"/>
              <a:ea typeface="Calibri"/>
              <a:cs typeface="Calibri"/>
              <a:sym typeface="Calibri"/>
            </a:endParaRPr>
          </a:p>
        </p:txBody>
      </p:sp>
      <p:sp>
        <p:nvSpPr>
          <p:cNvPr id="72" name="Google Shape;72;p6"/>
          <p:cNvSpPr/>
          <p:nvPr/>
        </p:nvSpPr>
        <p:spPr>
          <a:xfrm>
            <a:off x="8161834" y="2407841"/>
            <a:ext cx="310459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Six archetype features per user from the observation period</a:t>
            </a:r>
            <a:endParaRPr b="0" i="0" sz="1300" u="none" cap="none" strike="noStrike">
              <a:solidFill>
                <a:schemeClr val="dk1"/>
              </a:solidFill>
              <a:latin typeface="Calibri"/>
              <a:ea typeface="Calibri"/>
              <a:cs typeface="Calibri"/>
              <a:sym typeface="Calibri"/>
            </a:endParaRPr>
          </a:p>
        </p:txBody>
      </p:sp>
      <p:sp>
        <p:nvSpPr>
          <p:cNvPr id="73" name="Google Shape;73;p6"/>
          <p:cNvSpPr/>
          <p:nvPr/>
        </p:nvSpPr>
        <p:spPr>
          <a:xfrm>
            <a:off x="812800" y="3225701"/>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1016000" y="3428901"/>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04</a:t>
            </a:r>
            <a:r>
              <a:rPr b="1" i="0" lang="en-US" sz="1400" u="none" cap="none" strike="noStrike">
                <a:solidFill>
                  <a:srgbClr val="0F1B2D"/>
                </a:solidFill>
                <a:latin typeface="IBM Plex Sans"/>
                <a:ea typeface="IBM Plex Sans"/>
                <a:cs typeface="IBM Plex Sans"/>
                <a:sym typeface="IBM Plex Sans"/>
              </a:rPr>
              <a:t> Rank</a:t>
            </a:r>
            <a:endParaRPr b="0" i="0" sz="1400" u="none" cap="none" strike="noStrike">
              <a:solidFill>
                <a:schemeClr val="dk1"/>
              </a:solidFill>
              <a:latin typeface="Calibri"/>
              <a:ea typeface="Calibri"/>
              <a:cs typeface="Calibri"/>
              <a:sym typeface="Calibri"/>
            </a:endParaRPr>
          </a:p>
        </p:txBody>
      </p:sp>
      <p:sp>
        <p:nvSpPr>
          <p:cNvPr id="75" name="Google Shape;75;p6"/>
          <p:cNvSpPr/>
          <p:nvPr/>
        </p:nvSpPr>
        <p:spPr>
          <a:xfrm>
            <a:off x="1016000" y="375399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One score per archetype, or a Random Forest combining all six</a:t>
            </a:r>
            <a:endParaRPr b="0" i="0" sz="1300" u="none" cap="none" strike="noStrike">
              <a:solidFill>
                <a:schemeClr val="dk1"/>
              </a:solidFill>
              <a:latin typeface="Calibri"/>
              <a:ea typeface="Calibri"/>
              <a:cs typeface="Calibri"/>
              <a:sym typeface="Calibri"/>
            </a:endParaRPr>
          </a:p>
        </p:txBody>
      </p:sp>
      <p:sp>
        <p:nvSpPr>
          <p:cNvPr id="76" name="Google Shape;76;p6"/>
          <p:cNvSpPr/>
          <p:nvPr/>
        </p:nvSpPr>
        <p:spPr>
          <a:xfrm>
            <a:off x="4385717" y="3225701"/>
            <a:ext cx="3420517" cy="1193750"/>
          </a:xfrm>
          <a:prstGeom prst="roundRect">
            <a:avLst>
              <a:gd fmla="val 85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4588917" y="3428901"/>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400"/>
              <a:buFont typeface="IBM Plex Sans"/>
              <a:buNone/>
            </a:pPr>
            <a:r>
              <a:rPr b="1" i="0" lang="en-US" sz="1400" u="none" cap="none" strike="noStrike">
                <a:solidFill>
                  <a:srgbClr val="0F766E"/>
                </a:solidFill>
                <a:latin typeface="IBM Plex Sans"/>
                <a:ea typeface="IBM Plex Sans"/>
                <a:cs typeface="IBM Plex Sans"/>
                <a:sym typeface="IBM Plex Sans"/>
              </a:rPr>
              <a:t>05</a:t>
            </a:r>
            <a:r>
              <a:rPr b="1" i="0" lang="en-US" sz="1400" u="none" cap="none" strike="noStrike">
                <a:solidFill>
                  <a:srgbClr val="0F1B2D"/>
                </a:solidFill>
                <a:latin typeface="IBM Plex Sans"/>
                <a:ea typeface="IBM Plex Sans"/>
                <a:cs typeface="IBM Plex Sans"/>
                <a:sym typeface="IBM Plex Sans"/>
              </a:rPr>
              <a:t> Evaluate</a:t>
            </a:r>
            <a:endParaRPr b="0" i="0" sz="1400" u="none" cap="none" strike="noStrike">
              <a:solidFill>
                <a:schemeClr val="dk1"/>
              </a:solidFill>
              <a:latin typeface="Calibri"/>
              <a:ea typeface="Calibri"/>
              <a:cs typeface="Calibri"/>
              <a:sym typeface="Calibri"/>
            </a:endParaRPr>
          </a:p>
        </p:txBody>
      </p:sp>
      <p:sp>
        <p:nvSpPr>
          <p:cNvPr id="78" name="Google Shape;78;p6"/>
          <p:cNvSpPr/>
          <p:nvPr/>
        </p:nvSpPr>
        <p:spPr>
          <a:xfrm>
            <a:off x="4588917" y="3753991"/>
            <a:ext cx="310454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Dismantle the future reshare network: Quality@k and nDCG@k</a:t>
            </a:r>
            <a:endParaRPr b="0" i="0" sz="1300" u="none" cap="none" strike="noStrike">
              <a:solidFill>
                <a:schemeClr val="dk1"/>
              </a:solidFill>
              <a:latin typeface="Calibri"/>
              <a:ea typeface="Calibri"/>
              <a:cs typeface="Calibri"/>
              <a:sym typeface="Calibri"/>
            </a:endParaRPr>
          </a:p>
        </p:txBody>
      </p:sp>
      <p:sp>
        <p:nvSpPr>
          <p:cNvPr id="79" name="Google Shape;79;p6"/>
          <p:cNvSpPr/>
          <p:nvPr/>
        </p:nvSpPr>
        <p:spPr>
          <a:xfrm>
            <a:off x="7958634" y="3225701"/>
            <a:ext cx="3420566" cy="1193750"/>
          </a:xfrm>
          <a:prstGeom prst="roundRect">
            <a:avLst>
              <a:gd fmla="val 8511"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8161834" y="3428901"/>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400"/>
              <a:buFont typeface="IBM Plex Sans"/>
              <a:buNone/>
            </a:pPr>
            <a:r>
              <a:rPr b="1" i="0" lang="en-US" sz="1400" u="none" cap="none" strike="noStrike">
                <a:solidFill>
                  <a:srgbClr val="2DD4BF"/>
                </a:solidFill>
                <a:latin typeface="IBM Plex Sans"/>
                <a:ea typeface="IBM Plex Sans"/>
                <a:cs typeface="IBM Plex Sans"/>
                <a:sym typeface="IBM Plex Sans"/>
              </a:rPr>
              <a:t>06</a:t>
            </a:r>
            <a:r>
              <a:rPr b="1" i="0" lang="en-US" sz="1400" u="none" cap="none" strike="noStrike">
                <a:solidFill>
                  <a:srgbClr val="F4F7FA"/>
                </a:solidFill>
                <a:latin typeface="IBM Plex Sans"/>
                <a:ea typeface="IBM Plex Sans"/>
                <a:cs typeface="IBM Plex Sans"/>
                <a:sym typeface="IBM Plex Sans"/>
              </a:rPr>
              <a:t> Explain</a:t>
            </a:r>
            <a:endParaRPr b="0" i="0" sz="1400" u="none" cap="none" strike="noStrike">
              <a:solidFill>
                <a:schemeClr val="dk1"/>
              </a:solidFill>
              <a:latin typeface="Calibri"/>
              <a:ea typeface="Calibri"/>
              <a:cs typeface="Calibri"/>
              <a:sym typeface="Calibri"/>
            </a:endParaRPr>
          </a:p>
        </p:txBody>
      </p:sp>
      <p:sp>
        <p:nvSpPr>
          <p:cNvPr id="81" name="Google Shape;81;p6"/>
          <p:cNvSpPr/>
          <p:nvPr/>
        </p:nvSpPr>
        <p:spPr>
          <a:xfrm>
            <a:off x="8161834" y="3753991"/>
            <a:ext cx="310459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300"/>
              <a:buFont typeface="IBM Plex Sans"/>
              <a:buNone/>
            </a:pPr>
            <a:r>
              <a:rPr b="0" i="0" lang="en-US" sz="1300" u="none" cap="none" strike="noStrike">
                <a:solidFill>
                  <a:srgbClr val="F4F7FA"/>
                </a:solidFill>
                <a:latin typeface="IBM Plex Sans"/>
                <a:ea typeface="IBM Plex Sans"/>
                <a:cs typeface="IBM Plex Sans"/>
                <a:sym typeface="IBM Plex Sans"/>
              </a:rPr>
              <a:t>SHAP shows which archetype drives each user’s rank</a:t>
            </a:r>
            <a:endParaRPr b="0" i="0" sz="1300" u="none" cap="none" strike="noStrike">
              <a:solidFill>
                <a:schemeClr val="dk1"/>
              </a:solidFill>
              <a:latin typeface="Calibri"/>
              <a:ea typeface="Calibri"/>
              <a:cs typeface="Calibri"/>
              <a:sym typeface="Calibri"/>
            </a:endParaRPr>
          </a:p>
        </p:txBody>
      </p:sp>
      <p:sp>
        <p:nvSpPr>
          <p:cNvPr id="82" name="Google Shape;82;p6"/>
          <p:cNvSpPr/>
          <p:nvPr/>
        </p:nvSpPr>
        <p:spPr>
          <a:xfrm>
            <a:off x="812800" y="4724251"/>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Content-agnostic:</a:t>
            </a:r>
            <a:r>
              <a:rPr b="0" i="0" lang="en-US" sz="1400" u="none" cap="none" strike="noStrike">
                <a:solidFill>
                  <a:srgbClr val="556372"/>
                </a:solidFill>
                <a:latin typeface="IBM Plex Sans"/>
                <a:ea typeface="IBM Plex Sans"/>
                <a:cs typeface="IBM Plex Sans"/>
                <a:sym typeface="IBM Plex Sans"/>
              </a:rPr>
              <a:t> only a credibility label is needed, so the same pipeline works for images or video.</a:t>
            </a:r>
            <a:endParaRPr b="0" i="0" sz="1400" u="none" cap="none" strike="noStrike">
              <a:solidFill>
                <a:schemeClr val="dk1"/>
              </a:solidFill>
              <a:latin typeface="Calibri"/>
              <a:ea typeface="Calibri"/>
              <a:cs typeface="Calibri"/>
              <a:sym typeface="Calibri"/>
            </a:endParaRPr>
          </a:p>
        </p:txBody>
      </p:sp>
      <p:sp>
        <p:nvSpPr>
          <p:cNvPr id="83" name="Google Shape;83;p6"/>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84" name="Google Shape;84;p6"/>
          <p:cNvSpPr/>
          <p:nvPr/>
        </p:nvSpPr>
        <p:spPr>
          <a:xfrm>
            <a:off x="11236920" y="6238280"/>
            <a:ext cx="1422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89" name="Shape 89"/>
        <p:cNvGrpSpPr/>
        <p:nvPr/>
      </p:nvGrpSpPr>
      <p:grpSpPr>
        <a:xfrm>
          <a:off x="0" y="0"/>
          <a:ext cx="0" cy="0"/>
          <a:chOff x="0" y="0"/>
          <a:chExt cx="0" cy="0"/>
        </a:xfrm>
      </p:grpSpPr>
      <p:sp>
        <p:nvSpPr>
          <p:cNvPr id="90" name="Google Shape;90;p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DATA</a:t>
            </a:r>
            <a:endParaRPr b="0" i="0" sz="1200" u="none" cap="none" strike="noStrike">
              <a:solidFill>
                <a:schemeClr val="dk1"/>
              </a:solidFill>
              <a:latin typeface="Calibri"/>
              <a:ea typeface="Calibri"/>
              <a:cs typeface="Calibri"/>
              <a:sym typeface="Calibri"/>
            </a:endParaRPr>
          </a:p>
        </p:txBody>
      </p:sp>
      <p:sp>
        <p:nvSpPr>
          <p:cNvPr id="91" name="Google Shape;91;p7"/>
          <p:cNvSpPr/>
          <p:nvPr/>
        </p:nvSpPr>
        <p:spPr>
          <a:xfrm>
            <a:off x="812800" y="1127720"/>
            <a:ext cx="10883392" cy="9194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Two COVID-19 Twitter datasets, labeled by source credibility</a:t>
            </a:r>
            <a:endParaRPr b="0" i="0" sz="3200" u="none" cap="none" strike="noStrike">
              <a:solidFill>
                <a:schemeClr val="dk1"/>
              </a:solidFill>
              <a:latin typeface="Calibri"/>
              <a:ea typeface="Calibri"/>
              <a:cs typeface="Calibri"/>
              <a:sym typeface="Calibri"/>
            </a:endParaRPr>
          </a:p>
        </p:txBody>
      </p:sp>
      <p:sp>
        <p:nvSpPr>
          <p:cNvPr id="92" name="Google Shape;92;p7"/>
          <p:cNvSpPr/>
          <p:nvPr/>
        </p:nvSpPr>
        <p:spPr>
          <a:xfrm>
            <a:off x="812800" y="2377380"/>
            <a:ext cx="3662680"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600"/>
              <a:buFont typeface="IBM Plex Sans"/>
              <a:buNone/>
            </a:pPr>
            <a:r>
              <a:rPr b="1" i="0" lang="en-US" sz="1600" u="none" cap="none" strike="noStrike">
                <a:solidFill>
                  <a:srgbClr val="0F1B2D"/>
                </a:solidFill>
                <a:latin typeface="IBM Plex Sans"/>
                <a:ea typeface="IBM Plex Sans"/>
                <a:cs typeface="IBM Plex Sans"/>
                <a:sym typeface="IBM Plex Sans"/>
              </a:rPr>
              <a:t>Credibility labeling</a:t>
            </a:r>
            <a:endParaRPr b="0" i="0" sz="1600" u="none" cap="none" strike="noStrike">
              <a:solidFill>
                <a:schemeClr val="dk1"/>
              </a:solidFill>
              <a:latin typeface="Calibri"/>
              <a:ea typeface="Calibri"/>
              <a:cs typeface="Calibri"/>
              <a:sym typeface="Calibri"/>
            </a:endParaRPr>
          </a:p>
        </p:txBody>
      </p:sp>
      <p:sp>
        <p:nvSpPr>
          <p:cNvPr id="93" name="Google Shape;93;p7"/>
          <p:cNvSpPr/>
          <p:nvPr/>
        </p:nvSpPr>
        <p:spPr>
          <a:xfrm>
            <a:off x="812800" y="277361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Each URL’s domain gets a </a:t>
            </a:r>
            <a:r>
              <a:rPr b="1" i="0" lang="en-US" sz="1400" u="none" cap="none" strike="noStrike">
                <a:solidFill>
                  <a:srgbClr val="0F1B2D"/>
                </a:solidFill>
                <a:latin typeface="IBM Plex Sans"/>
                <a:ea typeface="IBM Plex Sans"/>
                <a:cs typeface="IBM Plex Sans"/>
                <a:sym typeface="IBM Plex Sans"/>
              </a:rPr>
              <a:t>NewsGuard</a:t>
            </a:r>
            <a:r>
              <a:rPr b="0" i="0" lang="en-US" sz="1400" u="none" cap="none" strike="noStrike">
                <a:solidFill>
                  <a:srgbClr val="0F1B2D"/>
                </a:solidFill>
                <a:latin typeface="IBM Plex Sans"/>
                <a:ea typeface="IBM Plex Sans"/>
                <a:cs typeface="IBM Plex Sans"/>
                <a:sym typeface="IBM Plex Sans"/>
              </a:rPr>
              <a:t> trust score from 0 to 100.</a:t>
            </a:r>
            <a:endParaRPr b="0" i="0" sz="1400" u="none" cap="none" strike="noStrike">
              <a:solidFill>
                <a:schemeClr val="dk1"/>
              </a:solidFill>
              <a:latin typeface="Calibri"/>
              <a:ea typeface="Calibri"/>
              <a:cs typeface="Calibri"/>
              <a:sym typeface="Calibri"/>
            </a:endParaRPr>
          </a:p>
        </p:txBody>
      </p:sp>
      <p:sp>
        <p:nvSpPr>
          <p:cNvPr id="94" name="Google Shape;94;p7"/>
          <p:cNvSpPr/>
          <p:nvPr/>
        </p:nvSpPr>
        <p:spPr>
          <a:xfrm>
            <a:off x="812800" y="342379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Score </a:t>
            </a:r>
            <a:r>
              <a:rPr b="1" i="0" lang="en-US" sz="1400" u="none" cap="none" strike="noStrike">
                <a:solidFill>
                  <a:srgbClr val="0F766E"/>
                </a:solidFill>
                <a:latin typeface="IBM Plex Sans"/>
                <a:ea typeface="IBM Plex Sans"/>
                <a:cs typeface="IBM Plex Sans"/>
                <a:sym typeface="IBM Plex Sans"/>
              </a:rPr>
              <a:t>≤ 39 → low-credibility</a:t>
            </a:r>
            <a:r>
              <a:rPr b="0" i="0" lang="en-US" sz="1400" u="none" cap="none" strike="noStrike">
                <a:solidFill>
                  <a:srgbClr val="0F1B2D"/>
                </a:solidFill>
                <a:latin typeface="IBM Plex Sans"/>
                <a:ea typeface="IBM Plex Sans"/>
                <a:cs typeface="IBM Plex Sans"/>
                <a:sym typeface="IBM Plex Sans"/>
              </a:rPr>
              <a:t> (misinformation).</a:t>
            </a:r>
            <a:endParaRPr b="0" i="0" sz="1400" u="none" cap="none" strike="noStrike">
              <a:solidFill>
                <a:schemeClr val="dk1"/>
              </a:solidFill>
              <a:latin typeface="Calibri"/>
              <a:ea typeface="Calibri"/>
              <a:cs typeface="Calibri"/>
              <a:sym typeface="Calibri"/>
            </a:endParaRPr>
          </a:p>
        </p:txBody>
      </p:sp>
      <p:sp>
        <p:nvSpPr>
          <p:cNvPr id="95" name="Google Shape;95;p7"/>
          <p:cNvSpPr/>
          <p:nvPr/>
        </p:nvSpPr>
        <p:spPr>
          <a:xfrm>
            <a:off x="812800" y="4073971"/>
            <a:ext cx="366268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Only original posts and reshares count — no replies, quotes or self-reshares.</a:t>
            </a:r>
            <a:endParaRPr b="0" i="0" sz="1400" u="none" cap="none" strike="noStrike">
              <a:solidFill>
                <a:schemeClr val="dk1"/>
              </a:solidFill>
              <a:latin typeface="Calibri"/>
              <a:ea typeface="Calibri"/>
              <a:cs typeface="Calibri"/>
              <a:sym typeface="Calibri"/>
            </a:endParaRPr>
          </a:p>
        </p:txBody>
      </p:sp>
      <p:sp>
        <p:nvSpPr>
          <p:cNvPr id="96" name="Google Shape;96;p7"/>
          <p:cNvSpPr/>
          <p:nvPr/>
        </p:nvSpPr>
        <p:spPr>
          <a:xfrm>
            <a:off x="4673600" y="2377380"/>
            <a:ext cx="3251200" cy="3195191"/>
          </a:xfrm>
          <a:prstGeom prst="roundRect">
            <a:avLst>
              <a:gd fmla="val 318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4927600" y="2631380"/>
            <a:ext cx="2825496"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VaccinItaly</a:t>
            </a:r>
            <a:endParaRPr b="0" i="0" sz="2000" u="none" cap="none" strike="noStrike">
              <a:solidFill>
                <a:schemeClr val="dk1"/>
              </a:solidFill>
              <a:latin typeface="Calibri"/>
              <a:ea typeface="Calibri"/>
              <a:cs typeface="Calibri"/>
              <a:sym typeface="Calibri"/>
            </a:endParaRPr>
          </a:p>
        </p:txBody>
      </p:sp>
      <p:sp>
        <p:nvSpPr>
          <p:cNvPr id="98" name="Google Shape;98;p7"/>
          <p:cNvSpPr/>
          <p:nvPr/>
        </p:nvSpPr>
        <p:spPr>
          <a:xfrm>
            <a:off x="4927600" y="3037780"/>
            <a:ext cx="282549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Italian · Dec 2020 – Oct 2021 · 306 days</a:t>
            </a:r>
            <a:endParaRPr b="0" i="0" sz="1200" u="none" cap="none" strike="noStrike">
              <a:solidFill>
                <a:schemeClr val="dk1"/>
              </a:solidFill>
              <a:latin typeface="Calibri"/>
              <a:ea typeface="Calibri"/>
              <a:cs typeface="Calibri"/>
              <a:sym typeface="Calibri"/>
            </a:endParaRPr>
          </a:p>
        </p:txBody>
      </p:sp>
      <p:sp>
        <p:nvSpPr>
          <p:cNvPr id="99" name="Google Shape;99;p7"/>
          <p:cNvSpPr/>
          <p:nvPr/>
        </p:nvSpPr>
        <p:spPr>
          <a:xfrm>
            <a:off x="4927600" y="3566021"/>
            <a:ext cx="2825496"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800"/>
              <a:buFont typeface="Fraunces"/>
              <a:buNone/>
            </a:pPr>
            <a:r>
              <a:rPr b="1" i="0" lang="en-US" sz="2800" u="none" cap="none" strike="noStrike">
                <a:solidFill>
                  <a:srgbClr val="0F766E"/>
                </a:solidFill>
                <a:latin typeface="Fraunces"/>
                <a:ea typeface="Fraunces"/>
                <a:cs typeface="Fraunces"/>
                <a:sym typeface="Fraunces"/>
              </a:rPr>
              <a:t>371,586</a:t>
            </a:r>
            <a:endParaRPr b="0" i="0" sz="2800" u="none" cap="none" strike="noStrike">
              <a:solidFill>
                <a:schemeClr val="dk1"/>
              </a:solidFill>
              <a:latin typeface="Calibri"/>
              <a:ea typeface="Calibri"/>
              <a:cs typeface="Calibri"/>
              <a:sym typeface="Calibri"/>
            </a:endParaRPr>
          </a:p>
        </p:txBody>
      </p:sp>
      <p:sp>
        <p:nvSpPr>
          <p:cNvPr id="100" name="Google Shape;100;p7"/>
          <p:cNvSpPr/>
          <p:nvPr/>
        </p:nvSpPr>
        <p:spPr>
          <a:xfrm>
            <a:off x="4927600" y="4165451"/>
            <a:ext cx="282549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retweets</a:t>
            </a:r>
            <a:endParaRPr b="0" i="0" sz="1200" u="none" cap="none" strike="noStrike">
              <a:solidFill>
                <a:schemeClr val="dk1"/>
              </a:solidFill>
              <a:latin typeface="Calibri"/>
              <a:ea typeface="Calibri"/>
              <a:cs typeface="Calibri"/>
              <a:sym typeface="Calibri"/>
            </a:endParaRPr>
          </a:p>
        </p:txBody>
      </p:sp>
      <p:sp>
        <p:nvSpPr>
          <p:cNvPr id="101" name="Google Shape;101;p7"/>
          <p:cNvSpPr/>
          <p:nvPr/>
        </p:nvSpPr>
        <p:spPr>
          <a:xfrm>
            <a:off x="4927600" y="4480371"/>
            <a:ext cx="2825496" cy="558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54,916 original posts</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51,962 users</a:t>
            </a:r>
            <a:endParaRPr b="0" i="0" sz="1400" u="none" cap="none" strike="noStrike">
              <a:solidFill>
                <a:schemeClr val="dk1"/>
              </a:solidFill>
              <a:latin typeface="Calibri"/>
              <a:ea typeface="Calibri"/>
              <a:cs typeface="Calibri"/>
              <a:sym typeface="Calibri"/>
            </a:endParaRPr>
          </a:p>
        </p:txBody>
      </p:sp>
      <p:sp>
        <p:nvSpPr>
          <p:cNvPr id="102" name="Google Shape;102;p7"/>
          <p:cNvSpPr/>
          <p:nvPr/>
        </p:nvSpPr>
        <p:spPr>
          <a:xfrm>
            <a:off x="8128000" y="2377380"/>
            <a:ext cx="3251200" cy="3195191"/>
          </a:xfrm>
          <a:prstGeom prst="roundRect">
            <a:avLst>
              <a:gd fmla="val 318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8382000" y="2631380"/>
            <a:ext cx="2825496" cy="635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COVID-19 Multilanguage</a:t>
            </a:r>
            <a:endParaRPr b="0" i="0" sz="2000" u="none" cap="none" strike="noStrike">
              <a:solidFill>
                <a:schemeClr val="dk1"/>
              </a:solidFill>
              <a:latin typeface="Calibri"/>
              <a:ea typeface="Calibri"/>
              <a:cs typeface="Calibri"/>
              <a:sym typeface="Calibri"/>
            </a:endParaRPr>
          </a:p>
        </p:txBody>
      </p:sp>
      <p:sp>
        <p:nvSpPr>
          <p:cNvPr id="104" name="Google Shape;104;p7"/>
          <p:cNvSpPr/>
          <p:nvPr/>
        </p:nvSpPr>
        <p:spPr>
          <a:xfrm>
            <a:off x="8382000" y="3342580"/>
            <a:ext cx="282549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Global · Nov 2020 – Nov 2021 · 372 days</a:t>
            </a:r>
            <a:endParaRPr b="0" i="0" sz="1200" u="none" cap="none" strike="noStrike">
              <a:solidFill>
                <a:schemeClr val="dk1"/>
              </a:solidFill>
              <a:latin typeface="Calibri"/>
              <a:ea typeface="Calibri"/>
              <a:cs typeface="Calibri"/>
              <a:sym typeface="Calibri"/>
            </a:endParaRPr>
          </a:p>
        </p:txBody>
      </p:sp>
      <p:sp>
        <p:nvSpPr>
          <p:cNvPr id="105" name="Google Shape;105;p7"/>
          <p:cNvSpPr/>
          <p:nvPr/>
        </p:nvSpPr>
        <p:spPr>
          <a:xfrm>
            <a:off x="8382000" y="3870821"/>
            <a:ext cx="2825496"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3FC4"/>
              </a:buClr>
              <a:buSzPts val="2800"/>
              <a:buFont typeface="Fraunces"/>
              <a:buNone/>
            </a:pPr>
            <a:r>
              <a:rPr b="1" i="0" lang="en-US" sz="2800" u="none" cap="none" strike="noStrike">
                <a:solidFill>
                  <a:srgbClr val="5B3FC4"/>
                </a:solidFill>
                <a:latin typeface="Fraunces"/>
                <a:ea typeface="Fraunces"/>
                <a:cs typeface="Fraunces"/>
                <a:sym typeface="Fraunces"/>
              </a:rPr>
              <a:t>1,118,697</a:t>
            </a:r>
            <a:endParaRPr b="0" i="0" sz="2800" u="none" cap="none" strike="noStrike">
              <a:solidFill>
                <a:schemeClr val="dk1"/>
              </a:solidFill>
              <a:latin typeface="Calibri"/>
              <a:ea typeface="Calibri"/>
              <a:cs typeface="Calibri"/>
              <a:sym typeface="Calibri"/>
            </a:endParaRPr>
          </a:p>
        </p:txBody>
      </p:sp>
      <p:sp>
        <p:nvSpPr>
          <p:cNvPr id="106" name="Google Shape;106;p7"/>
          <p:cNvSpPr/>
          <p:nvPr/>
        </p:nvSpPr>
        <p:spPr>
          <a:xfrm>
            <a:off x="8382000" y="4470251"/>
            <a:ext cx="282549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reshares</a:t>
            </a:r>
            <a:endParaRPr b="0" i="0" sz="1200" u="none" cap="none" strike="noStrike">
              <a:solidFill>
                <a:schemeClr val="dk1"/>
              </a:solidFill>
              <a:latin typeface="Calibri"/>
              <a:ea typeface="Calibri"/>
              <a:cs typeface="Calibri"/>
              <a:sym typeface="Calibri"/>
            </a:endParaRPr>
          </a:p>
        </p:txBody>
      </p:sp>
      <p:sp>
        <p:nvSpPr>
          <p:cNvPr id="107" name="Google Shape;107;p7"/>
          <p:cNvSpPr/>
          <p:nvPr/>
        </p:nvSpPr>
        <p:spPr>
          <a:xfrm>
            <a:off x="8382000" y="4785171"/>
            <a:ext cx="2825496" cy="558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103,250 original posts</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129,507 users</a:t>
            </a:r>
            <a:endParaRPr b="0" i="0" sz="1400" u="none" cap="none" strike="noStrike">
              <a:solidFill>
                <a:schemeClr val="dk1"/>
              </a:solidFill>
              <a:latin typeface="Calibri"/>
              <a:ea typeface="Calibri"/>
              <a:cs typeface="Calibri"/>
              <a:sym typeface="Calibri"/>
            </a:endParaRPr>
          </a:p>
        </p:txBody>
      </p:sp>
      <p:sp>
        <p:nvSpPr>
          <p:cNvPr id="108" name="Google Shape;108;p7"/>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09" name="Google Shape;109;p7"/>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14" name="Shape 114"/>
        <p:cNvGrpSpPr/>
        <p:nvPr/>
      </p:nvGrpSpPr>
      <p:grpSpPr>
        <a:xfrm>
          <a:off x="0" y="0"/>
          <a:ext cx="0" cy="0"/>
          <a:chOff x="0" y="0"/>
          <a:chExt cx="0" cy="0"/>
        </a:xfrm>
      </p:grpSpPr>
      <p:sp>
        <p:nvSpPr>
          <p:cNvPr id="115" name="Google Shape;115;p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BEHAVIORAL ARCHETYPES</a:t>
            </a:r>
            <a:endParaRPr b="0" i="0" sz="1200" u="none" cap="none" strike="noStrike">
              <a:solidFill>
                <a:schemeClr val="dk1"/>
              </a:solidFill>
              <a:latin typeface="Calibri"/>
              <a:ea typeface="Calibri"/>
              <a:cs typeface="Calibri"/>
              <a:sym typeface="Calibri"/>
            </a:endParaRPr>
          </a:p>
        </p:txBody>
      </p:sp>
      <p:sp>
        <p:nvSpPr>
          <p:cNvPr id="116" name="Google Shape;116;p8"/>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Three ways an account can drive misinformation</a:t>
            </a:r>
            <a:endParaRPr b="0" i="0" sz="3200" u="none" cap="none" strike="noStrike">
              <a:solidFill>
                <a:schemeClr val="dk1"/>
              </a:solidFill>
              <a:latin typeface="Calibri"/>
              <a:ea typeface="Calibri"/>
              <a:cs typeface="Calibri"/>
              <a:sym typeface="Calibri"/>
            </a:endParaRPr>
          </a:p>
        </p:txBody>
      </p:sp>
      <p:sp>
        <p:nvSpPr>
          <p:cNvPr id="117" name="Google Shape;117;p8"/>
          <p:cNvSpPr/>
          <p:nvPr/>
        </p:nvSpPr>
        <p:spPr>
          <a:xfrm>
            <a:off x="815975" y="1933525"/>
            <a:ext cx="3380284"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1073150" y="2190700"/>
            <a:ext cx="2951912"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66E"/>
              </a:buClr>
              <a:buSzPts val="2000"/>
              <a:buFont typeface="Fraunces"/>
              <a:buNone/>
            </a:pPr>
            <a:r>
              <a:rPr b="1" i="0" lang="en-US" sz="2000" u="none" cap="none" strike="noStrike">
                <a:solidFill>
                  <a:srgbClr val="0F766E"/>
                </a:solidFill>
                <a:latin typeface="Fraunces"/>
                <a:ea typeface="Fraunces"/>
                <a:cs typeface="Fraunces"/>
                <a:sym typeface="Fraunces"/>
              </a:rPr>
              <a:t>Amplifiers</a:t>
            </a:r>
            <a:endParaRPr b="0" i="0" sz="2000" u="none" cap="none" strike="noStrike">
              <a:solidFill>
                <a:schemeClr val="dk1"/>
              </a:solidFill>
              <a:latin typeface="Calibri"/>
              <a:ea typeface="Calibri"/>
              <a:cs typeface="Calibri"/>
              <a:sym typeface="Calibri"/>
            </a:endParaRPr>
          </a:p>
        </p:txBody>
      </p:sp>
      <p:sp>
        <p:nvSpPr>
          <p:cNvPr id="119" name="Google Shape;119;p8"/>
          <p:cNvSpPr/>
          <p:nvPr/>
        </p:nvSpPr>
        <p:spPr>
          <a:xfrm>
            <a:off x="1073150" y="2622500"/>
            <a:ext cx="2951912"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Create little original content but boost others’ posts through extensive resharing.</a:t>
            </a:r>
            <a:endParaRPr b="0" i="0" sz="1400" u="none" cap="none" strike="noStrike">
              <a:solidFill>
                <a:schemeClr val="dk1"/>
              </a:solidFill>
              <a:latin typeface="Calibri"/>
              <a:ea typeface="Calibri"/>
              <a:cs typeface="Calibri"/>
              <a:sym typeface="Calibri"/>
            </a:endParaRPr>
          </a:p>
        </p:txBody>
      </p:sp>
      <p:sp>
        <p:nvSpPr>
          <p:cNvPr id="120" name="Google Shape;120;p8"/>
          <p:cNvSpPr/>
          <p:nvPr/>
        </p:nvSpPr>
        <p:spPr>
          <a:xfrm>
            <a:off x="1073150" y="3496171"/>
            <a:ext cx="2951912"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how often they reshare low-credibility posts</a:t>
            </a:r>
            <a:endParaRPr b="0" i="0" sz="1200" u="none" cap="none" strike="noStrike">
              <a:solidFill>
                <a:schemeClr val="dk1"/>
              </a:solidFill>
              <a:latin typeface="Calibri"/>
              <a:ea typeface="Calibri"/>
              <a:cs typeface="Calibri"/>
              <a:sym typeface="Calibri"/>
            </a:endParaRPr>
          </a:p>
        </p:txBody>
      </p:sp>
      <p:sp>
        <p:nvSpPr>
          <p:cNvPr id="121" name="Google Shape;121;p8"/>
          <p:cNvSpPr/>
          <p:nvPr/>
        </p:nvSpPr>
        <p:spPr>
          <a:xfrm>
            <a:off x="4405809" y="1933525"/>
            <a:ext cx="3380333"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4662984" y="2190700"/>
            <a:ext cx="2951963"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3FC4"/>
              </a:buClr>
              <a:buSzPts val="2000"/>
              <a:buFont typeface="Fraunces"/>
              <a:buNone/>
            </a:pPr>
            <a:r>
              <a:rPr b="1" i="0" lang="en-US" sz="2000" u="none" cap="none" strike="noStrike">
                <a:solidFill>
                  <a:srgbClr val="5B3FC4"/>
                </a:solidFill>
                <a:latin typeface="Fraunces"/>
                <a:ea typeface="Fraunces"/>
                <a:cs typeface="Fraunces"/>
                <a:sym typeface="Fraunces"/>
              </a:rPr>
              <a:t>Coordinated accounts</a:t>
            </a:r>
            <a:endParaRPr b="0" i="0" sz="2000" u="none" cap="none" strike="noStrike">
              <a:solidFill>
                <a:schemeClr val="dk1"/>
              </a:solidFill>
              <a:latin typeface="Calibri"/>
              <a:ea typeface="Calibri"/>
              <a:cs typeface="Calibri"/>
              <a:sym typeface="Calibri"/>
            </a:endParaRPr>
          </a:p>
        </p:txBody>
      </p:sp>
      <p:sp>
        <p:nvSpPr>
          <p:cNvPr id="123" name="Google Shape;123;p8"/>
          <p:cNvSpPr/>
          <p:nvPr/>
        </p:nvSpPr>
        <p:spPr>
          <a:xfrm>
            <a:off x="4662984" y="2622500"/>
            <a:ext cx="2951963"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Groups acting in concert to push the same narratives, simulating consensus.</a:t>
            </a:r>
            <a:endParaRPr b="0" i="0" sz="1400" u="none" cap="none" strike="noStrike">
              <a:solidFill>
                <a:schemeClr val="dk1"/>
              </a:solidFill>
              <a:latin typeface="Calibri"/>
              <a:ea typeface="Calibri"/>
              <a:cs typeface="Calibri"/>
              <a:sym typeface="Calibri"/>
            </a:endParaRPr>
          </a:p>
        </p:txBody>
      </p:sp>
      <p:sp>
        <p:nvSpPr>
          <p:cNvPr id="124" name="Google Shape;124;p8"/>
          <p:cNvSpPr/>
          <p:nvPr/>
        </p:nvSpPr>
        <p:spPr>
          <a:xfrm>
            <a:off x="4662984" y="3496171"/>
            <a:ext cx="2951963"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synchronized, highly similar resharing behavior</a:t>
            </a:r>
            <a:endParaRPr b="0" i="0" sz="1200" u="none" cap="none" strike="noStrike">
              <a:solidFill>
                <a:schemeClr val="dk1"/>
              </a:solidFill>
              <a:latin typeface="Calibri"/>
              <a:ea typeface="Calibri"/>
              <a:cs typeface="Calibri"/>
              <a:sym typeface="Calibri"/>
            </a:endParaRPr>
          </a:p>
        </p:txBody>
      </p:sp>
      <p:sp>
        <p:nvSpPr>
          <p:cNvPr id="125" name="Google Shape;125;p8"/>
          <p:cNvSpPr/>
          <p:nvPr/>
        </p:nvSpPr>
        <p:spPr>
          <a:xfrm>
            <a:off x="7995692" y="1933525"/>
            <a:ext cx="3380333" cy="2246461"/>
          </a:xfrm>
          <a:prstGeom prst="roundRect">
            <a:avLst>
              <a:gd fmla="val 4381"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8252867" y="2190700"/>
            <a:ext cx="2951963" cy="330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2000"/>
              <a:buFont typeface="Fraunces"/>
              <a:buNone/>
            </a:pPr>
            <a:r>
              <a:rPr b="1" i="0" lang="en-US" sz="2000" u="none" cap="none" strike="noStrike">
                <a:solidFill>
                  <a:srgbClr val="0F1B2D"/>
                </a:solidFill>
                <a:latin typeface="Fraunces"/>
                <a:ea typeface="Fraunces"/>
                <a:cs typeface="Fraunces"/>
                <a:sym typeface="Fraunces"/>
              </a:rPr>
              <a:t>Super-spreaders</a:t>
            </a:r>
            <a:endParaRPr b="0" i="0" sz="2000" u="none" cap="none" strike="noStrike">
              <a:solidFill>
                <a:schemeClr val="dk1"/>
              </a:solidFill>
              <a:latin typeface="Calibri"/>
              <a:ea typeface="Calibri"/>
              <a:cs typeface="Calibri"/>
              <a:sym typeface="Calibri"/>
            </a:endParaRPr>
          </a:p>
        </p:txBody>
      </p:sp>
      <p:sp>
        <p:nvSpPr>
          <p:cNvPr id="127" name="Google Shape;127;p8"/>
          <p:cNvSpPr/>
          <p:nvPr/>
        </p:nvSpPr>
        <p:spPr>
          <a:xfrm>
            <a:off x="8252867" y="2622500"/>
            <a:ext cx="2951963"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Post original content that consistently goes viral and attracts heavy engagement.</a:t>
            </a:r>
            <a:endParaRPr b="0" i="0" sz="1400" u="none" cap="none" strike="noStrike">
              <a:solidFill>
                <a:schemeClr val="dk1"/>
              </a:solidFill>
              <a:latin typeface="Calibri"/>
              <a:ea typeface="Calibri"/>
              <a:cs typeface="Calibri"/>
              <a:sym typeface="Calibri"/>
            </a:endParaRPr>
          </a:p>
        </p:txBody>
      </p:sp>
      <p:sp>
        <p:nvSpPr>
          <p:cNvPr id="128" name="Google Shape;128;p8"/>
          <p:cNvSpPr/>
          <p:nvPr/>
        </p:nvSpPr>
        <p:spPr>
          <a:xfrm>
            <a:off x="8252867" y="3496171"/>
            <a:ext cx="2951963"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1" i="0" lang="en-US" sz="1200" u="none" cap="none" strike="noStrike">
                <a:solidFill>
                  <a:srgbClr val="556372"/>
                </a:solidFill>
                <a:latin typeface="IBM Plex Sans"/>
                <a:ea typeface="IBM Plex Sans"/>
                <a:cs typeface="IBM Plex Sans"/>
                <a:sym typeface="IBM Plex Sans"/>
              </a:rPr>
              <a:t>Signal:</a:t>
            </a:r>
            <a:r>
              <a:rPr b="0" i="0" lang="en-US" sz="1200" u="none" cap="none" strike="noStrike">
                <a:solidFill>
                  <a:srgbClr val="556372"/>
                </a:solidFill>
                <a:latin typeface="IBM Plex Sans"/>
                <a:ea typeface="IBM Plex Sans"/>
                <a:cs typeface="IBM Plex Sans"/>
                <a:sym typeface="IBM Plex Sans"/>
              </a:rPr>
              <a:t> volume and virality of reshares they receive</a:t>
            </a:r>
            <a:endParaRPr b="0" i="0" sz="1200" u="none" cap="none" strike="noStrike">
              <a:solidFill>
                <a:schemeClr val="dk1"/>
              </a:solidFill>
              <a:latin typeface="Calibri"/>
              <a:ea typeface="Calibri"/>
              <a:cs typeface="Calibri"/>
              <a:sym typeface="Calibri"/>
            </a:endParaRPr>
          </a:p>
        </p:txBody>
      </p:sp>
      <p:sp>
        <p:nvSpPr>
          <p:cNvPr id="129" name="Google Shape;129;p8"/>
          <p:cNvSpPr/>
          <p:nvPr/>
        </p:nvSpPr>
        <p:spPr>
          <a:xfrm>
            <a:off x="812800" y="4538762"/>
            <a:ext cx="1088339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400"/>
              <a:buFont typeface="IBM Plex Sans"/>
              <a:buNone/>
            </a:pPr>
            <a:r>
              <a:rPr b="0" i="0" lang="en-US" sz="1400" u="none" cap="none" strike="noStrike">
                <a:solidFill>
                  <a:srgbClr val="556372"/>
                </a:solidFill>
                <a:latin typeface="IBM Plex Sans"/>
                <a:ea typeface="IBM Plex Sans"/>
                <a:cs typeface="IBM Plex Sans"/>
                <a:sym typeface="IBM Plex Sans"/>
              </a:rPr>
              <a:t>Archetypes are </a:t>
            </a:r>
            <a:r>
              <a:rPr b="1" i="0" lang="en-US" sz="1400" u="none" cap="none" strike="noStrike">
                <a:solidFill>
                  <a:srgbClr val="0F1B2D"/>
                </a:solidFill>
                <a:latin typeface="IBM Plex Sans"/>
                <a:ea typeface="IBM Plex Sans"/>
                <a:cs typeface="IBM Plex Sans"/>
                <a:sym typeface="IBM Plex Sans"/>
              </a:rPr>
              <a:t>not mutually exclusive</a:t>
            </a:r>
            <a:r>
              <a:rPr b="0" i="0" lang="en-US" sz="1400" u="none" cap="none" strike="noStrike">
                <a:solidFill>
                  <a:srgbClr val="556372"/>
                </a:solidFill>
                <a:latin typeface="IBM Plex Sans"/>
                <a:ea typeface="IBM Plex Sans"/>
                <a:cs typeface="IBM Plex Sans"/>
                <a:sym typeface="IBM Plex Sans"/>
              </a:rPr>
              <a:t> — one account can show several — and they cover humans and bots alike, since only behavior is used.</a:t>
            </a:r>
            <a:endParaRPr b="0" i="0" sz="1400" u="none" cap="none" strike="noStrike">
              <a:solidFill>
                <a:schemeClr val="dk1"/>
              </a:solidFill>
              <a:latin typeface="Calibri"/>
              <a:ea typeface="Calibri"/>
              <a:cs typeface="Calibri"/>
              <a:sym typeface="Calibri"/>
            </a:endParaRPr>
          </a:p>
        </p:txBody>
      </p:sp>
      <p:sp>
        <p:nvSpPr>
          <p:cNvPr id="130" name="Google Shape;130;p8"/>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31" name="Google Shape;131;p8"/>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36" name="Shape 136"/>
        <p:cNvGrpSpPr/>
        <p:nvPr/>
      </p:nvGrpSpPr>
      <p:grpSpPr>
        <a:xfrm>
          <a:off x="0" y="0"/>
          <a:ext cx="0" cy="0"/>
          <a:chOff x="0" y="0"/>
          <a:chExt cx="0" cy="0"/>
        </a:xfrm>
      </p:grpSpPr>
      <p:sp>
        <p:nvSpPr>
          <p:cNvPr id="137" name="Google Shape;137;p9"/>
          <p:cNvSpPr/>
          <p:nvPr/>
        </p:nvSpPr>
        <p:spPr>
          <a:xfrm>
            <a:off x="812800" y="812800"/>
            <a:ext cx="10883392" cy="203250"/>
          </a:xfrm>
          <a:prstGeom prst="rect">
            <a:avLst/>
          </a:prstGeom>
          <a:noFill/>
          <a:ln>
            <a:noFill/>
          </a:ln>
        </p:spPr>
        <p:txBody>
          <a:bodyPr anchorCtr="0" anchor="t" bIns="0" lIns="0" spcFirstLastPara="1" rIns="0" wrap="square" tIns="0">
            <a:noAutofit/>
          </a:bodyPr>
          <a:lstStyle/>
          <a:p>
            <a:pPr indent="0" lvl="0" marL="0" marR="0" rtl="0" algn="l">
              <a:lnSpc>
                <a:spcPct val="140059"/>
              </a:lnSpc>
              <a:spcBef>
                <a:spcPts val="0"/>
              </a:spcBef>
              <a:spcAft>
                <a:spcPts val="0"/>
              </a:spcAft>
              <a:buClr>
                <a:srgbClr val="0F766E"/>
              </a:buClr>
              <a:buSzPts val="1016"/>
              <a:buFont typeface="IBM Plex Sans"/>
              <a:buNone/>
            </a:pPr>
            <a:r>
              <a:rPr b="1" i="0" lang="en-US" sz="1016" u="none" cap="none" strike="noStrike">
                <a:solidFill>
                  <a:srgbClr val="0F766E"/>
                </a:solidFill>
                <a:latin typeface="IBM Plex Sans"/>
                <a:ea typeface="IBM Plex Sans"/>
                <a:cs typeface="IBM Plex Sans"/>
                <a:sym typeface="IBM Plex Sans"/>
              </a:rPr>
              <a:t>RANKING METHODS</a:t>
            </a:r>
            <a:endParaRPr b="0" i="0" sz="1016" u="none" cap="none" strike="noStrike">
              <a:solidFill>
                <a:schemeClr val="dk1"/>
              </a:solidFill>
              <a:latin typeface="Calibri"/>
              <a:ea typeface="Calibri"/>
              <a:cs typeface="Calibri"/>
              <a:sym typeface="Calibri"/>
            </a:endParaRPr>
          </a:p>
        </p:txBody>
      </p:sp>
      <p:sp>
        <p:nvSpPr>
          <p:cNvPr id="138" name="Google Shape;138;p9"/>
          <p:cNvSpPr/>
          <p:nvPr/>
        </p:nvSpPr>
        <p:spPr>
          <a:xfrm>
            <a:off x="812800" y="1092250"/>
            <a:ext cx="10883392" cy="39806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2700"/>
              <a:buFont typeface="Fraunces"/>
              <a:buNone/>
            </a:pPr>
            <a:r>
              <a:rPr b="0" i="0" lang="en-US" sz="2700" u="none" cap="none" strike="noStrike">
                <a:solidFill>
                  <a:srgbClr val="0F1B2D"/>
                </a:solidFill>
                <a:latin typeface="Fraunces"/>
                <a:ea typeface="Fraunces"/>
                <a:cs typeface="Fraunces"/>
                <a:sym typeface="Fraunces"/>
              </a:rPr>
              <a:t>One family of ranking scores per archetype</a:t>
            </a:r>
            <a:endParaRPr b="0" i="0" sz="2700" u="none" cap="none" strike="noStrike">
              <a:solidFill>
                <a:schemeClr val="dk1"/>
              </a:solidFill>
              <a:latin typeface="Calibri"/>
              <a:ea typeface="Calibri"/>
              <a:cs typeface="Calibri"/>
              <a:sym typeface="Calibri"/>
            </a:endParaRPr>
          </a:p>
        </p:txBody>
      </p:sp>
      <p:graphicFrame>
        <p:nvGraphicFramePr>
          <p:cNvPr id="139" name="Google Shape;139;p9"/>
          <p:cNvGraphicFramePr/>
          <p:nvPr/>
        </p:nvGraphicFramePr>
        <p:xfrm>
          <a:off x="825500" y="1782415"/>
          <a:ext cx="3000000" cy="3000000"/>
        </p:xfrm>
        <a:graphic>
          <a:graphicData uri="http://schemas.openxmlformats.org/drawingml/2006/table">
            <a:tbl>
              <a:tblPr>
                <a:noFill/>
                <a:tableStyleId>{0308776F-C0AC-4067-8FC5-9607A05738ED}</a:tableStyleId>
              </a:tblPr>
              <a:tblGrid>
                <a:gridCol w="3517900"/>
                <a:gridCol w="3517900"/>
                <a:gridCol w="3517900"/>
              </a:tblGrid>
              <a:tr h="387100">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Archetype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Score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c>
                  <a:txBody>
                    <a:bodyPr/>
                    <a:lstStyle/>
                    <a:p>
                      <a:pPr indent="0" lvl="0" marL="0" marR="0" rtl="0" algn="l">
                        <a:lnSpc>
                          <a:spcPct val="139965"/>
                        </a:lnSpc>
                        <a:spcBef>
                          <a:spcPts val="0"/>
                        </a:spcBef>
                        <a:spcAft>
                          <a:spcPts val="0"/>
                        </a:spcAft>
                        <a:buClr>
                          <a:srgbClr val="556372"/>
                        </a:buClr>
                        <a:buSzPts val="1166"/>
                        <a:buFont typeface="IBM Plex Sans"/>
                        <a:buNone/>
                      </a:pPr>
                      <a:r>
                        <a:rPr b="1" lang="en-US" sz="1166" u="none" cap="none" strike="noStrike">
                          <a:solidFill>
                            <a:srgbClr val="556372"/>
                          </a:solidFill>
                          <a:latin typeface="IBM Plex Sans"/>
                          <a:ea typeface="IBM Plex Sans"/>
                          <a:cs typeface="IBM Plex Sans"/>
                          <a:sym typeface="IBM Plex Sans"/>
                        </a:rPr>
                        <a:t>How users are ranked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B5B7B9"/>
                      </a:solidFill>
                      <a:prstDash val="solid"/>
                      <a:round/>
                      <a:headEnd len="sm" w="sm" type="none"/>
                      <a:tailEnd len="sm" w="sm" type="none"/>
                    </a:lnL>
                    <a:lnR cap="flat" cmpd="sng" w="12700">
                      <a:solidFill>
                        <a:srgbClr val="B5B7B9"/>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B5B7B9"/>
                      </a:solidFill>
                      <a:prstDash val="solid"/>
                      <a:round/>
                      <a:headEnd len="sm" w="sm" type="none"/>
                      <a:tailEnd len="sm" w="sm" type="none"/>
                    </a:lnB>
                    <a:solidFill>
                      <a:srgbClr val="E2E5E8"/>
                    </a:solidFill>
                  </a:tcPr>
                </a:tc>
              </a:tr>
              <a:tr h="387150">
                <a:tc>
                  <a:txBody>
                    <a:bodyPr/>
                    <a:lstStyle/>
                    <a:p>
                      <a:pPr indent="0" lvl="0" marL="0" marR="0" rtl="0" algn="l">
                        <a:lnSpc>
                          <a:spcPct val="139965"/>
                        </a:lnSpc>
                        <a:spcBef>
                          <a:spcPts val="0"/>
                        </a:spcBef>
                        <a:spcAft>
                          <a:spcPts val="0"/>
                        </a:spcAft>
                        <a:buClr>
                          <a:srgbClr val="0F766E"/>
                        </a:buClr>
                        <a:buSzPts val="1166"/>
                        <a:buFont typeface="IBM Plex Sans"/>
                        <a:buNone/>
                      </a:pPr>
                      <a:r>
                        <a:rPr lang="en-US" sz="1166" u="none" cap="none" strike="noStrike">
                          <a:solidFill>
                            <a:srgbClr val="0F766E"/>
                          </a:solidFill>
                          <a:latin typeface="IBM Plex Sans"/>
                          <a:ea typeface="IBM Plex Sans"/>
                          <a:cs typeface="IBM Plex Sans"/>
                          <a:sym typeface="IBM Plex Sans"/>
                        </a:rPr>
                        <a:t>Amplifiers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Repost Count</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Number of low-credibility posts the user reshared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B5B7B9"/>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Early Reposter (EaR) 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Rewards resharing early in a cascade, especially of later-viral posts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rgbClr val="5B3FC4"/>
                        </a:buClr>
                        <a:buSzPts val="1166"/>
                        <a:buFont typeface="IBM Plex Sans"/>
                        <a:buNone/>
                      </a:pPr>
                      <a:r>
                        <a:rPr lang="en-US" sz="1166" u="none" cap="none" strike="noStrike">
                          <a:solidFill>
                            <a:srgbClr val="5B3FC4"/>
                          </a:solidFill>
                          <a:latin typeface="IBM Plex Sans"/>
                          <a:ea typeface="IBM Plex Sans"/>
                          <a:cs typeface="IBM Plex Sans"/>
                          <a:sym typeface="IBM Plex Sans"/>
                        </a:rPr>
                        <a:t>Coordinated</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Coord-Centrality</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Eigenvector centrality in the co-reshare similarity network</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387150">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Coord-EdgeWeight</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Strongest cosine-similarity link to any other user</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Super-spreaders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Influence Score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Total reshares received by the user’s low-credibility posts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H-Index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Largest h such that h posts each got at least h reshares</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C3C5C7"/>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C3C5C7"/>
                      </a:solidFill>
                      <a:prstDash val="solid"/>
                      <a:round/>
                      <a:headEnd len="sm" w="sm" type="none"/>
                      <a:tailEnd len="sm" w="sm" type="none"/>
                    </a:lnB>
                  </a:tcPr>
                </a:tc>
              </a:tr>
              <a:tr h="579625">
                <a:tc>
                  <a:txBody>
                    <a:bodyPr/>
                    <a:lstStyle/>
                    <a:p>
                      <a:pPr indent="0" lvl="0" marL="0" marR="0" rtl="0" algn="l">
                        <a:lnSpc>
                          <a:spcPct val="139965"/>
                        </a:lnSpc>
                        <a:spcBef>
                          <a:spcPts val="0"/>
                        </a:spcBef>
                        <a:spcAft>
                          <a:spcPts val="0"/>
                        </a:spcAft>
                        <a:buClr>
                          <a:schemeClr val="dk1"/>
                        </a:buClr>
                        <a:buSzPts val="1166"/>
                        <a:buFont typeface="Calibri"/>
                        <a:buNone/>
                      </a:pPr>
                      <a:r>
                        <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C3C5C7"/>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39965"/>
                        </a:lnSpc>
                        <a:spcBef>
                          <a:spcPts val="0"/>
                        </a:spcBef>
                        <a:spcAft>
                          <a:spcPts val="0"/>
                        </a:spcAft>
                        <a:buClr>
                          <a:srgbClr val="0F766E"/>
                        </a:buClr>
                        <a:buSzPts val="1166"/>
                        <a:buFont typeface="IBM Plex Sans"/>
                        <a:buNone/>
                      </a:pPr>
                      <a:r>
                        <a:rPr lang="en-US" sz="1166" u="none" cap="none" strike="noStrike">
                          <a:solidFill>
                            <a:srgbClr val="0F766E"/>
                          </a:solidFill>
                          <a:latin typeface="IBM Plex Sans"/>
                          <a:ea typeface="IBM Plex Sans"/>
                          <a:cs typeface="IBM Plex Sans"/>
                          <a:sym typeface="IBM Plex Sans"/>
                        </a:rPr>
                        <a:t>TAI-Score · TASH-Index</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c>
                  <a:txBody>
                    <a:bodyPr/>
                    <a:lstStyle/>
                    <a:p>
                      <a:pPr indent="0" lvl="0" marL="0" marR="0" rtl="0" algn="l">
                        <a:lnSpc>
                          <a:spcPct val="139965"/>
                        </a:lnSpc>
                        <a:spcBef>
                          <a:spcPts val="0"/>
                        </a:spcBef>
                        <a:spcAft>
                          <a:spcPts val="0"/>
                        </a:spcAft>
                        <a:buClr>
                          <a:srgbClr val="0F1B2D"/>
                        </a:buClr>
                        <a:buSzPts val="1166"/>
                        <a:buFont typeface="IBM Plex Sans"/>
                        <a:buNone/>
                      </a:pPr>
                      <a:r>
                        <a:rPr lang="en-US" sz="1166" u="none" cap="none" strike="noStrike">
                          <a:solidFill>
                            <a:srgbClr val="0F1B2D"/>
                          </a:solidFill>
                          <a:latin typeface="IBM Plex Sans"/>
                          <a:ea typeface="IBM Plex Sans"/>
                          <a:cs typeface="IBM Plex Sans"/>
                          <a:sym typeface="IBM Plex Sans"/>
                        </a:rPr>
                        <a:t>New: time-aware versions of the two scores above</a:t>
                      </a:r>
                      <a:endParaRPr sz="1166" u="none" cap="none" strike="noStrike">
                        <a:latin typeface="IBM Plex Sans"/>
                        <a:ea typeface="IBM Plex Sans"/>
                        <a:cs typeface="IBM Plex Sans"/>
                        <a:sym typeface="IBM Plex Sans"/>
                      </a:endParaRPr>
                    </a:p>
                  </a:txBody>
                  <a:tcPr marT="88900" marB="88900" marR="101600" marL="101600">
                    <a:lnL cap="flat" cmpd="sng" w="12700">
                      <a:solidFill>
                        <a:srgbClr val="AEC1BE"/>
                      </a:solidFill>
                      <a:prstDash val="solid"/>
                      <a:round/>
                      <a:headEnd len="sm" w="sm" type="none"/>
                      <a:tailEnd len="sm" w="sm" type="none"/>
                    </a:lnL>
                    <a:lnR cap="flat" cmpd="sng" w="12700">
                      <a:solidFill>
                        <a:srgbClr val="AEC1BE"/>
                      </a:solidFill>
                      <a:prstDash val="solid"/>
                      <a:round/>
                      <a:headEnd len="sm" w="sm" type="none"/>
                      <a:tailEnd len="sm" w="sm" type="none"/>
                    </a:lnR>
                    <a:lnT cap="flat" cmpd="sng" w="12700">
                      <a:solidFill>
                        <a:srgbClr val="C3C5C7"/>
                      </a:solidFill>
                      <a:prstDash val="solid"/>
                      <a:round/>
                      <a:headEnd len="sm" w="sm" type="none"/>
                      <a:tailEnd len="sm" w="sm" type="none"/>
                    </a:lnT>
                    <a:lnB cap="flat" cmpd="sng" w="12700">
                      <a:solidFill>
                        <a:srgbClr val="AEC1BE"/>
                      </a:solidFill>
                      <a:prstDash val="solid"/>
                      <a:round/>
                      <a:headEnd len="sm" w="sm" type="none"/>
                      <a:tailEnd len="sm" w="sm" type="none"/>
                    </a:lnB>
                    <a:solidFill>
                      <a:srgbClr val="D9F2EE"/>
                    </a:solidFill>
                  </a:tcPr>
                </a:tc>
              </a:tr>
            </a:tbl>
          </a:graphicData>
        </a:graphic>
      </p:graphicFrame>
      <p:sp>
        <p:nvSpPr>
          <p:cNvPr id="140" name="Google Shape;140;p9"/>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41" name="Google Shape;141;p9"/>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46" name="Shape 146"/>
        <p:cNvGrpSpPr/>
        <p:nvPr/>
      </p:nvGrpSpPr>
      <p:grpSpPr>
        <a:xfrm>
          <a:off x="0" y="0"/>
          <a:ext cx="0" cy="0"/>
          <a:chOff x="0" y="0"/>
          <a:chExt cx="0" cy="0"/>
        </a:xfrm>
      </p:grpSpPr>
      <p:sp>
        <p:nvSpPr>
          <p:cNvPr id="147" name="Google Shape;147;p1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KEY CONTRIBUTION</a:t>
            </a:r>
            <a:endParaRPr b="0" i="0" sz="1200" u="none" cap="none" strike="noStrike">
              <a:solidFill>
                <a:schemeClr val="dk1"/>
              </a:solidFill>
              <a:latin typeface="Calibri"/>
              <a:ea typeface="Calibri"/>
              <a:cs typeface="Calibri"/>
              <a:sym typeface="Calibri"/>
            </a:endParaRPr>
          </a:p>
        </p:txBody>
      </p:sp>
      <p:sp>
        <p:nvSpPr>
          <p:cNvPr id="148" name="Google Shape;148;p10"/>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Time-aware scores: TAI-Score and TASH-Index</a:t>
            </a:r>
            <a:endParaRPr b="0" i="0" sz="3200" u="none" cap="none" strike="noStrike">
              <a:solidFill>
                <a:schemeClr val="dk1"/>
              </a:solidFill>
              <a:latin typeface="Calibri"/>
              <a:ea typeface="Calibri"/>
              <a:cs typeface="Calibri"/>
              <a:sym typeface="Calibri"/>
            </a:endParaRPr>
          </a:p>
        </p:txBody>
      </p:sp>
      <p:sp>
        <p:nvSpPr>
          <p:cNvPr id="149" name="Google Shape;149;p10"/>
          <p:cNvSpPr/>
          <p:nvPr/>
        </p:nvSpPr>
        <p:spPr>
          <a:xfrm>
            <a:off x="812800" y="1828750"/>
            <a:ext cx="10566400" cy="2570460"/>
          </a:xfrm>
          <a:prstGeom prst="roundRect">
            <a:avLst>
              <a:gd fmla="val 4941"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ormulas: TAI-Score(u) at slot t equals alpha times TAI-Score(u) at slot t minus 1 plus (1 minus alpha) times Influence Score(u) at slot t. TASH-Index(u) at slot t equals alpha times TASH-Index(u) at slot t minus 1 plus (1 minus alpha) times H-Index(u) at slot t." id="150" name="Google Shape;150;p10"/>
          <p:cNvPicPr preferRelativeResize="0"/>
          <p:nvPr/>
        </p:nvPicPr>
        <p:blipFill rotWithShape="1">
          <a:blip r:embed="rId3">
            <a:alphaModFix/>
          </a:blip>
          <a:srcRect b="-68" l="0" r="0" t="-68"/>
          <a:stretch/>
        </p:blipFill>
        <p:spPr>
          <a:xfrm>
            <a:off x="1168400" y="2082750"/>
            <a:ext cx="9855200" cy="1498600"/>
          </a:xfrm>
          <a:prstGeom prst="rect">
            <a:avLst/>
          </a:prstGeom>
          <a:noFill/>
          <a:ln>
            <a:noFill/>
          </a:ln>
        </p:spPr>
      </p:pic>
      <p:sp>
        <p:nvSpPr>
          <p:cNvPr id="151" name="Google Shape;151;p10"/>
          <p:cNvSpPr/>
          <p:nvPr/>
        </p:nvSpPr>
        <p:spPr>
          <a:xfrm>
            <a:off x="1168400" y="3682950"/>
            <a:ext cx="10150856"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C4D1"/>
              </a:buClr>
              <a:buSzPts val="1300"/>
              <a:buFont typeface="IBM Plex Sans"/>
              <a:buNone/>
            </a:pPr>
            <a:r>
              <a:rPr b="0" i="0" lang="en-US" sz="1300" u="none" cap="none" strike="noStrike">
                <a:solidFill>
                  <a:srgbClr val="B8C4D1"/>
                </a:solidFill>
                <a:latin typeface="IBM Plex Sans"/>
                <a:ea typeface="IBM Plex Sans"/>
                <a:cs typeface="IBM Plex Sans"/>
                <a:sym typeface="IBM Plex Sans"/>
              </a:rPr>
              <a:t>Split time into slots of δ days, compute the score in each slot, smooth with an exponential moving average. The first slot’s value starts the average.</a:t>
            </a:r>
            <a:endParaRPr b="0" i="0" sz="1300" u="none" cap="none" strike="noStrike">
              <a:solidFill>
                <a:schemeClr val="dk1"/>
              </a:solidFill>
              <a:latin typeface="Calibri"/>
              <a:ea typeface="Calibri"/>
              <a:cs typeface="Calibri"/>
              <a:sym typeface="Calibri"/>
            </a:endParaRPr>
          </a:p>
        </p:txBody>
      </p:sp>
      <p:sp>
        <p:nvSpPr>
          <p:cNvPr id="152" name="Google Shape;152;p10"/>
          <p:cNvSpPr/>
          <p:nvPr/>
        </p:nvSpPr>
        <p:spPr>
          <a:xfrm>
            <a:off x="815975" y="4656386"/>
            <a:ext cx="3380284"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1022350" y="4862761"/>
            <a:ext cx="3056560"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Why time-aware?</a:t>
            </a:r>
            <a:endParaRPr b="0" i="0" sz="1500" u="none" cap="none" strike="noStrike">
              <a:solidFill>
                <a:schemeClr val="dk1"/>
              </a:solidFill>
              <a:latin typeface="Calibri"/>
              <a:ea typeface="Calibri"/>
              <a:cs typeface="Calibri"/>
              <a:sym typeface="Calibri"/>
            </a:endParaRPr>
          </a:p>
        </p:txBody>
      </p:sp>
      <p:sp>
        <p:nvSpPr>
          <p:cNvPr id="154" name="Google Shape;154;p10"/>
          <p:cNvSpPr/>
          <p:nvPr/>
        </p:nvSpPr>
        <p:spPr>
          <a:xfrm>
            <a:off x="1022350" y="5167561"/>
            <a:ext cx="305656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A fixed window is arbitrary and biased by posting frequency.</a:t>
            </a:r>
            <a:endParaRPr b="0" i="0" sz="1300" u="none" cap="none" strike="noStrike">
              <a:solidFill>
                <a:schemeClr val="dk1"/>
              </a:solidFill>
              <a:latin typeface="Calibri"/>
              <a:ea typeface="Calibri"/>
              <a:cs typeface="Calibri"/>
              <a:sym typeface="Calibri"/>
            </a:endParaRPr>
          </a:p>
        </p:txBody>
      </p:sp>
      <p:sp>
        <p:nvSpPr>
          <p:cNvPr id="155" name="Google Shape;155;p10"/>
          <p:cNvSpPr/>
          <p:nvPr/>
        </p:nvSpPr>
        <p:spPr>
          <a:xfrm>
            <a:off x="4405809" y="4656386"/>
            <a:ext cx="3380333"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
          <p:cNvSpPr/>
          <p:nvPr/>
        </p:nvSpPr>
        <p:spPr>
          <a:xfrm>
            <a:off x="4612184" y="4862761"/>
            <a:ext cx="305661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The α knob</a:t>
            </a:r>
            <a:endParaRPr b="0" i="0" sz="1500" u="none" cap="none" strike="noStrike">
              <a:solidFill>
                <a:schemeClr val="dk1"/>
              </a:solidFill>
              <a:latin typeface="Calibri"/>
              <a:ea typeface="Calibri"/>
              <a:cs typeface="Calibri"/>
              <a:sym typeface="Calibri"/>
            </a:endParaRPr>
          </a:p>
        </p:txBody>
      </p:sp>
      <p:sp>
        <p:nvSpPr>
          <p:cNvPr id="157" name="Google Shape;157;p10"/>
          <p:cNvSpPr/>
          <p:nvPr/>
        </p:nvSpPr>
        <p:spPr>
          <a:xfrm>
            <a:off x="4612184" y="5167561"/>
            <a:ext cx="305661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α = 1: only the first slot. α = 0: only the latest slot.</a:t>
            </a:r>
            <a:endParaRPr b="0" i="0" sz="1300" u="none" cap="none" strike="noStrike">
              <a:solidFill>
                <a:schemeClr val="dk1"/>
              </a:solidFill>
              <a:latin typeface="Calibri"/>
              <a:ea typeface="Calibri"/>
              <a:cs typeface="Calibri"/>
              <a:sym typeface="Calibri"/>
            </a:endParaRPr>
          </a:p>
        </p:txBody>
      </p:sp>
      <p:sp>
        <p:nvSpPr>
          <p:cNvPr id="158" name="Google Shape;158;p10"/>
          <p:cNvSpPr/>
          <p:nvPr/>
        </p:nvSpPr>
        <p:spPr>
          <a:xfrm>
            <a:off x="7995692" y="4656386"/>
            <a:ext cx="3380333" cy="1179810"/>
          </a:xfrm>
          <a:prstGeom prst="roundRect">
            <a:avLst>
              <a:gd fmla="val 8342"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8202067" y="4862761"/>
            <a:ext cx="3056611"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500"/>
              <a:buFont typeface="IBM Plex Sans"/>
              <a:buNone/>
            </a:pPr>
            <a:r>
              <a:rPr b="1" i="0" lang="en-US" sz="1500" u="none" cap="none" strike="noStrike">
                <a:solidFill>
                  <a:srgbClr val="0F1B2D"/>
                </a:solidFill>
                <a:latin typeface="IBM Plex Sans"/>
                <a:ea typeface="IBM Plex Sans"/>
                <a:cs typeface="IBM Plex Sans"/>
                <a:sym typeface="IBM Plex Sans"/>
              </a:rPr>
              <a:t>Grid search on nDCG</a:t>
            </a:r>
            <a:endParaRPr b="0" i="0" sz="1500" u="none" cap="none" strike="noStrike">
              <a:solidFill>
                <a:schemeClr val="dk1"/>
              </a:solidFill>
              <a:latin typeface="Calibri"/>
              <a:ea typeface="Calibri"/>
              <a:cs typeface="Calibri"/>
              <a:sym typeface="Calibri"/>
            </a:endParaRPr>
          </a:p>
        </p:txBody>
      </p:sp>
      <p:sp>
        <p:nvSpPr>
          <p:cNvPr id="160" name="Google Shape;160;p10"/>
          <p:cNvSpPr/>
          <p:nvPr/>
        </p:nvSpPr>
        <p:spPr>
          <a:xfrm>
            <a:off x="8202067" y="5167561"/>
            <a:ext cx="3056611"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TASH: α = 0.5, δ = 14 days</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TAI: α = 0.6, δ = 18 days</a:t>
            </a:r>
            <a:endParaRPr b="0" i="0" sz="1300" u="none" cap="none" strike="noStrike">
              <a:solidFill>
                <a:schemeClr val="dk1"/>
              </a:solidFill>
              <a:latin typeface="Calibri"/>
              <a:ea typeface="Calibri"/>
              <a:cs typeface="Calibri"/>
              <a:sym typeface="Calibri"/>
            </a:endParaRPr>
          </a:p>
        </p:txBody>
      </p:sp>
      <p:sp>
        <p:nvSpPr>
          <p:cNvPr id="161" name="Google Shape;161;p10"/>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62" name="Google Shape;162;p10"/>
          <p:cNvSpPr/>
          <p:nvPr/>
        </p:nvSpPr>
        <p:spPr>
          <a:xfrm>
            <a:off x="11236920" y="6238280"/>
            <a:ext cx="14228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167" name="Shape 167"/>
        <p:cNvGrpSpPr/>
        <p:nvPr/>
      </p:nvGrpSpPr>
      <p:grpSpPr>
        <a:xfrm>
          <a:off x="0" y="0"/>
          <a:ext cx="0" cy="0"/>
          <a:chOff x="0" y="0"/>
          <a:chExt cx="0" cy="0"/>
        </a:xfrm>
      </p:grpSpPr>
      <p:sp>
        <p:nvSpPr>
          <p:cNvPr id="168" name="Google Shape;168;p1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MACHINE LEARNING RANKING</a:t>
            </a:r>
            <a:endParaRPr b="0" i="0" sz="1200" u="none" cap="none" strike="noStrike">
              <a:solidFill>
                <a:schemeClr val="dk1"/>
              </a:solidFill>
              <a:latin typeface="Calibri"/>
              <a:ea typeface="Calibri"/>
              <a:cs typeface="Calibri"/>
              <a:sym typeface="Calibri"/>
            </a:endParaRPr>
          </a:p>
        </p:txBody>
      </p:sp>
      <p:sp>
        <p:nvSpPr>
          <p:cNvPr id="169" name="Google Shape;169;p11"/>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Combining all archetypes in one learning-to-rank model</a:t>
            </a:r>
            <a:endParaRPr b="0" i="0" sz="3200" u="none" cap="none" strike="noStrike">
              <a:solidFill>
                <a:schemeClr val="dk1"/>
              </a:solidFill>
              <a:latin typeface="Calibri"/>
              <a:ea typeface="Calibri"/>
              <a:cs typeface="Calibri"/>
              <a:sym typeface="Calibri"/>
            </a:endParaRPr>
          </a:p>
        </p:txBody>
      </p:sp>
      <p:sp>
        <p:nvSpPr>
          <p:cNvPr id="170" name="Google Shape;170;p11"/>
          <p:cNvSpPr/>
          <p:nvPr/>
        </p:nvSpPr>
        <p:spPr>
          <a:xfrm>
            <a:off x="815975" y="1933525"/>
            <a:ext cx="2787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1022350" y="2139900"/>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 · INPUT FEATURES</a:t>
            </a:r>
            <a:endParaRPr b="0" i="0" sz="1200" u="none" cap="none" strike="noStrike">
              <a:solidFill>
                <a:schemeClr val="dk1"/>
              </a:solidFill>
              <a:latin typeface="Calibri"/>
              <a:ea typeface="Calibri"/>
              <a:cs typeface="Calibri"/>
              <a:sym typeface="Calibri"/>
            </a:endParaRPr>
          </a:p>
        </p:txBody>
      </p:sp>
      <p:sp>
        <p:nvSpPr>
          <p:cNvPr id="172" name="Google Shape;172;p11"/>
          <p:cNvSpPr/>
          <p:nvPr/>
        </p:nvSpPr>
        <p:spPr>
          <a:xfrm>
            <a:off x="1022350" y="2429421"/>
            <a:ext cx="2446147" cy="98286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Repost Count · EaR-Index</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5B3FC4"/>
              </a:buClr>
              <a:buSzPts val="1300"/>
              <a:buFont typeface="IBM Plex Sans"/>
              <a:buNone/>
            </a:pPr>
            <a:r>
              <a:rPr b="1" i="0" lang="en-US" sz="1300" u="none" cap="none" strike="noStrike">
                <a:solidFill>
                  <a:srgbClr val="5B3FC4"/>
                </a:solidFill>
                <a:latin typeface="IBM Plex Sans"/>
                <a:ea typeface="IBM Plex Sans"/>
                <a:cs typeface="IBM Plex Sans"/>
                <a:sym typeface="IBM Plex Sans"/>
              </a:rPr>
              <a:t>Coord-Centrality · Coord-EdgeWeight</a:t>
            </a:r>
            <a:endParaRPr b="0" i="0" sz="13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0F1B2D"/>
              </a:buClr>
              <a:buSzPts val="1300"/>
              <a:buFont typeface="IBM Plex Sans"/>
              <a:buNone/>
            </a:pPr>
            <a:r>
              <a:rPr b="1" i="0" lang="en-US" sz="1300" u="none" cap="none" strike="noStrike">
                <a:solidFill>
                  <a:srgbClr val="0F1B2D"/>
                </a:solidFill>
                <a:latin typeface="IBM Plex Sans"/>
                <a:ea typeface="IBM Plex Sans"/>
                <a:cs typeface="IBM Plex Sans"/>
                <a:sym typeface="IBM Plex Sans"/>
              </a:rPr>
              <a:t>TAI-Score · TASH-Index</a:t>
            </a:r>
            <a:endParaRPr b="0" i="0" sz="1300" u="none" cap="none" strike="noStrike">
              <a:solidFill>
                <a:schemeClr val="dk1"/>
              </a:solidFill>
              <a:latin typeface="Calibri"/>
              <a:ea typeface="Calibri"/>
              <a:cs typeface="Calibri"/>
              <a:sym typeface="Calibri"/>
            </a:endParaRPr>
          </a:p>
        </p:txBody>
      </p:sp>
      <p:sp>
        <p:nvSpPr>
          <p:cNvPr id="173" name="Google Shape;173;p11"/>
          <p:cNvSpPr/>
          <p:nvPr/>
        </p:nvSpPr>
        <p:spPr>
          <a:xfrm>
            <a:off x="37338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74" name="Google Shape;174;p11"/>
          <p:cNvSpPr/>
          <p:nvPr/>
        </p:nvSpPr>
        <p:spPr>
          <a:xfrm>
            <a:off x="4168775" y="1933525"/>
            <a:ext cx="2152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4375150" y="2139900"/>
            <a:ext cx="17920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2 · MODEL</a:t>
            </a:r>
            <a:endParaRPr b="0" i="0" sz="1200" u="none" cap="none" strike="noStrike">
              <a:solidFill>
                <a:schemeClr val="dk1"/>
              </a:solidFill>
              <a:latin typeface="Calibri"/>
              <a:ea typeface="Calibri"/>
              <a:cs typeface="Calibri"/>
              <a:sym typeface="Calibri"/>
            </a:endParaRPr>
          </a:p>
        </p:txBody>
      </p:sp>
      <p:sp>
        <p:nvSpPr>
          <p:cNvPr id="176" name="Google Shape;176;p11"/>
          <p:cNvSpPr/>
          <p:nvPr/>
        </p:nvSpPr>
        <p:spPr>
          <a:xfrm>
            <a:off x="4375150" y="2429421"/>
            <a:ext cx="1792097" cy="12698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Random Forest</a:t>
            </a:r>
            <a:r>
              <a:rPr b="0" i="0" lang="en-US" sz="1400" u="none" cap="none" strike="noStrike">
                <a:solidFill>
                  <a:srgbClr val="0F1B2D"/>
                </a:solidFill>
                <a:latin typeface="IBM Plex Sans"/>
                <a:ea typeface="IBM Plex Sans"/>
                <a:cs typeface="IBM Plex Sans"/>
                <a:sym typeface="IBM Plex Sans"/>
              </a:rPr>
              <a:t> regression — pointwise ranking (best of several off-the-shelf models)</a:t>
            </a:r>
            <a:endParaRPr b="0" i="0" sz="1400" u="none" cap="none" strike="noStrike">
              <a:solidFill>
                <a:schemeClr val="dk1"/>
              </a:solidFill>
              <a:latin typeface="Calibri"/>
              <a:ea typeface="Calibri"/>
              <a:cs typeface="Calibri"/>
              <a:sym typeface="Calibri"/>
            </a:endParaRPr>
          </a:p>
        </p:txBody>
      </p:sp>
      <p:sp>
        <p:nvSpPr>
          <p:cNvPr id="177" name="Google Shape;177;p11"/>
          <p:cNvSpPr/>
          <p:nvPr/>
        </p:nvSpPr>
        <p:spPr>
          <a:xfrm>
            <a:off x="64516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78" name="Google Shape;178;p11"/>
          <p:cNvSpPr/>
          <p:nvPr/>
        </p:nvSpPr>
        <p:spPr>
          <a:xfrm>
            <a:off x="6886575" y="1933525"/>
            <a:ext cx="2152650" cy="1946721"/>
          </a:xfrm>
          <a:prstGeom prst="roundRect">
            <a:avLst>
              <a:gd fmla="val 5056"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7092950" y="2139900"/>
            <a:ext cx="179209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3 · TARGET</a:t>
            </a:r>
            <a:endParaRPr b="0" i="0" sz="1200" u="none" cap="none" strike="noStrike">
              <a:solidFill>
                <a:schemeClr val="dk1"/>
              </a:solidFill>
              <a:latin typeface="Calibri"/>
              <a:ea typeface="Calibri"/>
              <a:cs typeface="Calibri"/>
              <a:sym typeface="Calibri"/>
            </a:endParaRPr>
          </a:p>
        </p:txBody>
      </p:sp>
      <p:sp>
        <p:nvSpPr>
          <p:cNvPr id="180" name="Google Shape;180;p11"/>
          <p:cNvSpPr/>
          <p:nvPr/>
        </p:nvSpPr>
        <p:spPr>
          <a:xfrm>
            <a:off x="7092950" y="2429421"/>
            <a:ext cx="1792097" cy="12698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0" i="0" lang="en-US" sz="1400" u="none" cap="none" strike="noStrike">
                <a:solidFill>
                  <a:srgbClr val="0F1B2D"/>
                </a:solidFill>
                <a:latin typeface="IBM Plex Sans"/>
                <a:ea typeface="IBM Plex Sans"/>
                <a:cs typeface="IBM Plex Sans"/>
                <a:sym typeface="IBM Plex Sans"/>
              </a:rPr>
              <a:t>User </a:t>
            </a:r>
            <a:r>
              <a:rPr b="1" i="0" lang="en-US" sz="1400" u="none" cap="none" strike="noStrike">
                <a:solidFill>
                  <a:srgbClr val="0F1B2D"/>
                </a:solidFill>
                <a:latin typeface="IBM Plex Sans"/>
                <a:ea typeface="IBM Plex Sans"/>
                <a:cs typeface="IBM Plex Sans"/>
                <a:sym typeface="IBM Plex Sans"/>
              </a:rPr>
              <a:t>strength</a:t>
            </a:r>
            <a:r>
              <a:rPr b="0" i="0" lang="en-US" sz="1400" u="none" cap="none" strike="noStrike">
                <a:solidFill>
                  <a:srgbClr val="0F1B2D"/>
                </a:solidFill>
                <a:latin typeface="IBM Plex Sans"/>
                <a:ea typeface="IBM Plex Sans"/>
                <a:cs typeface="IBM Plex Sans"/>
                <a:sym typeface="IBM Plex Sans"/>
              </a:rPr>
              <a:t>: total low-credibility reshares the user is involved in, as author or resharer</a:t>
            </a:r>
            <a:endParaRPr b="0" i="0" sz="1400" u="none" cap="none" strike="noStrike">
              <a:solidFill>
                <a:schemeClr val="dk1"/>
              </a:solidFill>
              <a:latin typeface="Calibri"/>
              <a:ea typeface="Calibri"/>
              <a:cs typeface="Calibri"/>
              <a:sym typeface="Calibri"/>
            </a:endParaRPr>
          </a:p>
        </p:txBody>
      </p:sp>
      <p:sp>
        <p:nvSpPr>
          <p:cNvPr id="181" name="Google Shape;181;p11"/>
          <p:cNvSpPr/>
          <p:nvPr/>
        </p:nvSpPr>
        <p:spPr>
          <a:xfrm>
            <a:off x="9169400" y="2693541"/>
            <a:ext cx="36576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400"/>
              <a:buFont typeface="IBM Plex Sans"/>
              <a:buNone/>
            </a:pPr>
            <a:r>
              <a:rPr b="0" i="0" lang="en-US" sz="2400" u="none" cap="none" strike="noStrike">
                <a:solidFill>
                  <a:srgbClr val="0F766E"/>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182" name="Google Shape;182;p11"/>
          <p:cNvSpPr/>
          <p:nvPr/>
        </p:nvSpPr>
        <p:spPr>
          <a:xfrm>
            <a:off x="9601200" y="1930350"/>
            <a:ext cx="1778000" cy="1953071"/>
          </a:xfrm>
          <a:prstGeom prst="roundRect">
            <a:avLst>
              <a:gd fmla="val 5714"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9804400" y="2133550"/>
            <a:ext cx="1422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4 · EXPLAIN</a:t>
            </a:r>
            <a:endParaRPr b="0" i="0" sz="1200" u="none" cap="none" strike="noStrike">
              <a:solidFill>
                <a:schemeClr val="dk1"/>
              </a:solidFill>
              <a:latin typeface="Calibri"/>
              <a:ea typeface="Calibri"/>
              <a:cs typeface="Calibri"/>
              <a:sym typeface="Calibri"/>
            </a:endParaRPr>
          </a:p>
        </p:txBody>
      </p:sp>
      <p:sp>
        <p:nvSpPr>
          <p:cNvPr id="184" name="Google Shape;184;p11"/>
          <p:cNvSpPr/>
          <p:nvPr/>
        </p:nvSpPr>
        <p:spPr>
          <a:xfrm>
            <a:off x="9804400" y="2423071"/>
            <a:ext cx="1422400"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400"/>
              <a:buFont typeface="IBM Plex Sans"/>
              <a:buNone/>
            </a:pPr>
            <a:r>
              <a:rPr b="1" i="0" lang="en-US" sz="1400" u="none" cap="none" strike="noStrike">
                <a:solidFill>
                  <a:srgbClr val="F4F7FA"/>
                </a:solidFill>
                <a:latin typeface="IBM Plex Sans"/>
                <a:ea typeface="IBM Plex Sans"/>
                <a:cs typeface="IBM Plex Sans"/>
                <a:sym typeface="IBM Plex Sans"/>
              </a:rPr>
              <a:t>SHAP</a:t>
            </a:r>
            <a:r>
              <a:rPr b="0" i="0" lang="en-US" sz="1400" u="none" cap="none" strike="noStrike">
                <a:solidFill>
                  <a:srgbClr val="F4F7FA"/>
                </a:solidFill>
                <a:latin typeface="IBM Plex Sans"/>
                <a:ea typeface="IBM Plex Sans"/>
                <a:cs typeface="IBM Plex Sans"/>
                <a:sym typeface="IBM Plex Sans"/>
              </a:rPr>
              <a:t> shows which archetype drives each rank</a:t>
            </a:r>
            <a:endParaRPr b="0" i="0" sz="1400" u="none" cap="none" strike="noStrike">
              <a:solidFill>
                <a:schemeClr val="dk1"/>
              </a:solidFill>
              <a:latin typeface="Calibri"/>
              <a:ea typeface="Calibri"/>
              <a:cs typeface="Calibri"/>
              <a:sym typeface="Calibri"/>
            </a:endParaRPr>
          </a:p>
        </p:txBody>
      </p:sp>
      <p:sp>
        <p:nvSpPr>
          <p:cNvPr id="185" name="Google Shape;185;p11"/>
          <p:cNvSpPr/>
          <p:nvPr/>
        </p:nvSpPr>
        <p:spPr>
          <a:xfrm>
            <a:off x="812800" y="4239022"/>
            <a:ext cx="1088339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Temporal split, no leakage:</a:t>
            </a:r>
            <a:r>
              <a:rPr b="0" i="0" lang="en-US" sz="1400" u="none" cap="none" strike="noStrike">
                <a:solidFill>
                  <a:srgbClr val="556372"/>
                </a:solidFill>
                <a:latin typeface="IBM Plex Sans"/>
                <a:ea typeface="IBM Plex Sans"/>
                <a:cs typeface="IBM Plex Sans"/>
                <a:sym typeface="IBM Plex Sans"/>
              </a:rPr>
              <a:t> the first 80% of reshares (in time order) are the observation period for training; the last 20% are the evaluation period.</a:t>
            </a:r>
            <a:endParaRPr b="0" i="0" sz="1400" u="none" cap="none" strike="noStrike">
              <a:solidFill>
                <a:schemeClr val="dk1"/>
              </a:solidFill>
              <a:latin typeface="Calibri"/>
              <a:ea typeface="Calibri"/>
              <a:cs typeface="Calibri"/>
              <a:sym typeface="Calibri"/>
            </a:endParaRPr>
          </a:p>
        </p:txBody>
      </p:sp>
      <p:sp>
        <p:nvSpPr>
          <p:cNvPr id="186" name="Google Shape;186;p11"/>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187" name="Google Shape;187;p11"/>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192" name="Shape 192"/>
        <p:cNvGrpSpPr/>
        <p:nvPr/>
      </p:nvGrpSpPr>
      <p:grpSpPr>
        <a:xfrm>
          <a:off x="0" y="0"/>
          <a:ext cx="0" cy="0"/>
          <a:chOff x="0" y="0"/>
          <a:chExt cx="0" cy="0"/>
        </a:xfrm>
      </p:grpSpPr>
      <p:sp>
        <p:nvSpPr>
          <p:cNvPr id="193" name="Google Shape;193;p1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EVALUATION</a:t>
            </a:r>
            <a:endParaRPr b="0" i="0" sz="1200" u="none" cap="none" strike="noStrike">
              <a:solidFill>
                <a:schemeClr val="dk1"/>
              </a:solidFill>
              <a:latin typeface="Calibri"/>
              <a:ea typeface="Calibri"/>
              <a:cs typeface="Calibri"/>
              <a:sym typeface="Calibri"/>
            </a:endParaRPr>
          </a:p>
        </p:txBody>
      </p:sp>
      <p:sp>
        <p:nvSpPr>
          <p:cNvPr id="194" name="Google Shape;194;p12"/>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Evaluation by dismantling the misinformation network</a:t>
            </a:r>
            <a:endParaRPr b="0" i="0" sz="3200" u="none" cap="none" strike="noStrike">
              <a:solidFill>
                <a:schemeClr val="dk1"/>
              </a:solidFill>
              <a:latin typeface="Calibri"/>
              <a:ea typeface="Calibri"/>
              <a:cs typeface="Calibri"/>
              <a:sym typeface="Calibri"/>
            </a:endParaRPr>
          </a:p>
        </p:txBody>
      </p:sp>
      <p:sp>
        <p:nvSpPr>
          <p:cNvPr id="195" name="Google Shape;195;p12"/>
          <p:cNvSpPr/>
          <p:nvPr/>
        </p:nvSpPr>
        <p:spPr>
          <a:xfrm>
            <a:off x="812800" y="1879550"/>
            <a:ext cx="4185920"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Reshare network</a:t>
            </a:r>
            <a:r>
              <a:rPr b="0" i="0" lang="en-US" sz="1400" u="none" cap="none" strike="noStrike">
                <a:solidFill>
                  <a:srgbClr val="0F1B2D"/>
                </a:solidFill>
                <a:latin typeface="IBM Plex Sans"/>
                <a:ea typeface="IBM Plex Sans"/>
                <a:cs typeface="IBM Plex Sans"/>
                <a:sym typeface="IBM Plex Sans"/>
              </a:rPr>
              <a:t> from the test period: edge A → B weighted by how many of A’s low-credibility posts B reshared.</a:t>
            </a:r>
            <a:endParaRPr b="0" i="0" sz="1400" u="none" cap="none" strike="noStrike">
              <a:solidFill>
                <a:schemeClr val="dk1"/>
              </a:solidFill>
              <a:latin typeface="Calibri"/>
              <a:ea typeface="Calibri"/>
              <a:cs typeface="Calibri"/>
              <a:sym typeface="Calibri"/>
            </a:endParaRPr>
          </a:p>
        </p:txBody>
      </p:sp>
      <p:sp>
        <p:nvSpPr>
          <p:cNvPr id="196" name="Google Shape;196;p12"/>
          <p:cNvSpPr/>
          <p:nvPr/>
        </p:nvSpPr>
        <p:spPr>
          <a:xfrm>
            <a:off x="812800" y="2778621"/>
            <a:ext cx="418592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Remove users</a:t>
            </a:r>
            <a:r>
              <a:rPr b="0" i="0" lang="en-US" sz="1400" u="none" cap="none" strike="noStrike">
                <a:solidFill>
                  <a:srgbClr val="0F1B2D"/>
                </a:solidFill>
                <a:latin typeface="IBM Plex Sans"/>
                <a:ea typeface="IBM Plex Sans"/>
                <a:cs typeface="IBM Plex Sans"/>
                <a:sym typeface="IBM Plex Sans"/>
              </a:rPr>
              <a:t> in ranked order and measure how much misinformation volume disappears.</a:t>
            </a:r>
            <a:endParaRPr b="0" i="0" sz="1400" u="none" cap="none" strike="noStrike">
              <a:solidFill>
                <a:schemeClr val="dk1"/>
              </a:solidFill>
              <a:latin typeface="Calibri"/>
              <a:ea typeface="Calibri"/>
              <a:cs typeface="Calibri"/>
              <a:sym typeface="Calibri"/>
            </a:endParaRPr>
          </a:p>
        </p:txBody>
      </p:sp>
      <p:cxnSp>
        <p:nvCxnSpPr>
          <p:cNvPr id="197" name="Google Shape;197;p12"/>
          <p:cNvCxnSpPr/>
          <p:nvPr/>
        </p:nvCxnSpPr>
        <p:spPr>
          <a:xfrm>
            <a:off x="825500" y="3428802"/>
            <a:ext cx="0" cy="497780"/>
          </a:xfrm>
          <a:prstGeom prst="straightConnector1">
            <a:avLst/>
          </a:prstGeom>
          <a:noFill/>
          <a:ln cap="flat" cmpd="sng" w="25400">
            <a:solidFill>
              <a:srgbClr val="0F766E"/>
            </a:solidFill>
            <a:prstDash val="solid"/>
            <a:round/>
            <a:headEnd len="sm" w="sm" type="none"/>
            <a:tailEnd len="sm" w="sm" type="none"/>
          </a:ln>
        </p:spPr>
      </p:cxnSp>
      <p:sp>
        <p:nvSpPr>
          <p:cNvPr id="198" name="Google Shape;198;p12"/>
          <p:cNvSpPr/>
          <p:nvPr/>
        </p:nvSpPr>
        <p:spPr>
          <a:xfrm>
            <a:off x="990600" y="3428802"/>
            <a:ext cx="400278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Quality@k</a:t>
            </a:r>
            <a:r>
              <a:rPr b="0" i="0" lang="en-US" sz="1400" u="none" cap="none" strike="noStrike">
                <a:solidFill>
                  <a:srgbClr val="0F1B2D"/>
                </a:solidFill>
                <a:latin typeface="IBM Plex Sans"/>
                <a:ea typeface="IBM Plex Sans"/>
                <a:cs typeface="IBM Plex Sans"/>
                <a:sym typeface="IBM Plex Sans"/>
              </a:rPr>
              <a:t> — share of misinformation removed by moderating the top-k users</a:t>
            </a:r>
            <a:endParaRPr b="0" i="0" sz="1400" u="none" cap="none" strike="noStrike">
              <a:solidFill>
                <a:schemeClr val="dk1"/>
              </a:solidFill>
              <a:latin typeface="Calibri"/>
              <a:ea typeface="Calibri"/>
              <a:cs typeface="Calibri"/>
              <a:sym typeface="Calibri"/>
            </a:endParaRPr>
          </a:p>
        </p:txBody>
      </p:sp>
      <p:cxnSp>
        <p:nvCxnSpPr>
          <p:cNvPr id="199" name="Google Shape;199;p12"/>
          <p:cNvCxnSpPr/>
          <p:nvPr/>
        </p:nvCxnSpPr>
        <p:spPr>
          <a:xfrm>
            <a:off x="825500" y="4078982"/>
            <a:ext cx="0" cy="497780"/>
          </a:xfrm>
          <a:prstGeom prst="straightConnector1">
            <a:avLst/>
          </a:prstGeom>
          <a:noFill/>
          <a:ln cap="flat" cmpd="sng" w="25400">
            <a:solidFill>
              <a:srgbClr val="5B3FC4"/>
            </a:solidFill>
            <a:prstDash val="solid"/>
            <a:round/>
            <a:headEnd len="sm" w="sm" type="none"/>
            <a:tailEnd len="sm" w="sm" type="none"/>
          </a:ln>
        </p:spPr>
      </p:cxnSp>
      <p:sp>
        <p:nvSpPr>
          <p:cNvPr id="200" name="Google Shape;200;p12"/>
          <p:cNvSpPr/>
          <p:nvPr/>
        </p:nvSpPr>
        <p:spPr>
          <a:xfrm>
            <a:off x="990600" y="4078982"/>
            <a:ext cx="400278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nDCG@k</a:t>
            </a:r>
            <a:r>
              <a:rPr b="0" i="0" lang="en-US" sz="1400" u="none" cap="none" strike="noStrike">
                <a:solidFill>
                  <a:srgbClr val="0F1B2D"/>
                </a:solidFill>
                <a:latin typeface="IBM Plex Sans"/>
                <a:ea typeface="IBM Plex Sans"/>
                <a:cs typeface="IBM Plex Sans"/>
                <a:sym typeface="IBM Plex Sans"/>
              </a:rPr>
              <a:t> — agreement with the ground-truth ranking by node strength</a:t>
            </a:r>
            <a:endParaRPr b="0" i="0" sz="1400" u="none" cap="none" strike="noStrike">
              <a:solidFill>
                <a:schemeClr val="dk1"/>
              </a:solidFill>
              <a:latin typeface="Calibri"/>
              <a:ea typeface="Calibri"/>
              <a:cs typeface="Calibri"/>
              <a:sym typeface="Calibri"/>
            </a:endParaRPr>
          </a:p>
        </p:txBody>
      </p:sp>
      <p:sp>
        <p:nvSpPr>
          <p:cNvPr id="201" name="Google Shape;201;p12"/>
          <p:cNvSpPr/>
          <p:nvPr/>
        </p:nvSpPr>
        <p:spPr>
          <a:xfrm>
            <a:off x="5181600" y="1879550"/>
            <a:ext cx="6197600" cy="3458170"/>
          </a:xfrm>
          <a:prstGeom prst="roundRect">
            <a:avLst>
              <a:gd fmla="val 293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2: optimal dismantling curve; removing the top 6 users removes about 44% of misinformation" id="202" name="Google Shape;202;p12"/>
          <p:cNvPicPr preferRelativeResize="0"/>
          <p:nvPr/>
        </p:nvPicPr>
        <p:blipFill rotWithShape="1">
          <a:blip r:embed="rId3">
            <a:alphaModFix/>
          </a:blip>
          <a:srcRect b="-180" l="0" r="0" t="-180"/>
          <a:stretch/>
        </p:blipFill>
        <p:spPr>
          <a:xfrm>
            <a:off x="5334000" y="2031950"/>
            <a:ext cx="5892800" cy="2863850"/>
          </a:xfrm>
          <a:prstGeom prst="rect">
            <a:avLst/>
          </a:prstGeom>
          <a:noFill/>
          <a:ln>
            <a:noFill/>
          </a:ln>
        </p:spPr>
      </p:pic>
      <p:sp>
        <p:nvSpPr>
          <p:cNvPr id="203" name="Google Shape;203;p12"/>
          <p:cNvSpPr/>
          <p:nvPr/>
        </p:nvSpPr>
        <p:spPr>
          <a:xfrm>
            <a:off x="5334000" y="4972000"/>
            <a:ext cx="60695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2 — optimal ranking: removing just the top 6 users cuts ≈ 44% of misinformation.</a:t>
            </a:r>
            <a:endParaRPr b="0" i="0" sz="1200" u="none" cap="none" strike="noStrike">
              <a:solidFill>
                <a:schemeClr val="dk1"/>
              </a:solidFill>
              <a:latin typeface="Calibri"/>
              <a:ea typeface="Calibri"/>
              <a:cs typeface="Calibri"/>
              <a:sym typeface="Calibri"/>
            </a:endParaRPr>
          </a:p>
        </p:txBody>
      </p:sp>
      <p:sp>
        <p:nvSpPr>
          <p:cNvPr id="204" name="Google Shape;204;p12"/>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205" name="Google Shape;205;p12"/>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10" name="Shape 210"/>
        <p:cNvGrpSpPr/>
        <p:nvPr/>
      </p:nvGrpSpPr>
      <p:grpSpPr>
        <a:xfrm>
          <a:off x="0" y="0"/>
          <a:ext cx="0" cy="0"/>
          <a:chOff x="0" y="0"/>
          <a:chExt cx="0" cy="0"/>
        </a:xfrm>
      </p:grpSpPr>
      <p:sp>
        <p:nvSpPr>
          <p:cNvPr id="211" name="Google Shape;211;p1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RANKING PERFORMANCE</a:t>
            </a:r>
            <a:endParaRPr b="0" i="0" sz="1200" u="none" cap="none" strike="noStrike">
              <a:solidFill>
                <a:schemeClr val="dk1"/>
              </a:solidFill>
              <a:latin typeface="Calibri"/>
              <a:ea typeface="Calibri"/>
              <a:cs typeface="Calibri"/>
              <a:sym typeface="Calibri"/>
            </a:endParaRPr>
          </a:p>
        </p:txBody>
      </p:sp>
      <p:sp>
        <p:nvSpPr>
          <p:cNvPr id="212" name="Google Shape;212;p13"/>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ML and TASH-Index track the optimal curve</a:t>
            </a:r>
            <a:endParaRPr b="0" i="0" sz="3200" u="none" cap="none" strike="noStrike">
              <a:solidFill>
                <a:schemeClr val="dk1"/>
              </a:solidFill>
              <a:latin typeface="Calibri"/>
              <a:ea typeface="Calibri"/>
              <a:cs typeface="Calibri"/>
              <a:sym typeface="Calibri"/>
            </a:endParaRPr>
          </a:p>
        </p:txBody>
      </p:sp>
      <p:sp>
        <p:nvSpPr>
          <p:cNvPr id="213" name="Google Shape;213;p13"/>
          <p:cNvSpPr/>
          <p:nvPr/>
        </p:nvSpPr>
        <p:spPr>
          <a:xfrm>
            <a:off x="812800" y="1879550"/>
            <a:ext cx="7556500" cy="3759200"/>
          </a:xfrm>
          <a:prstGeom prst="roundRect">
            <a:avLst>
              <a:gd fmla="val 270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3: dismantling curves for Optimal, Repost-Count, Coord-Centrality, TASH-Index and ML on VaccinItaly" id="214" name="Google Shape;214;p13"/>
          <p:cNvPicPr preferRelativeResize="0"/>
          <p:nvPr/>
        </p:nvPicPr>
        <p:blipFill rotWithShape="1">
          <a:blip r:embed="rId3">
            <a:alphaModFix/>
          </a:blip>
          <a:srcRect b="0" l="-17" r="-17" t="0"/>
          <a:stretch/>
        </p:blipFill>
        <p:spPr>
          <a:xfrm>
            <a:off x="939800" y="2006550"/>
            <a:ext cx="7302500" cy="3505200"/>
          </a:xfrm>
          <a:prstGeom prst="rect">
            <a:avLst/>
          </a:prstGeom>
          <a:noFill/>
          <a:ln>
            <a:noFill/>
          </a:ln>
        </p:spPr>
      </p:pic>
      <p:sp>
        <p:nvSpPr>
          <p:cNvPr id="215" name="Google Shape;215;p13"/>
          <p:cNvSpPr/>
          <p:nvPr/>
        </p:nvSpPr>
        <p:spPr>
          <a:xfrm>
            <a:off x="8623300" y="1879550"/>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1" i="0" lang="en-US" sz="1300" u="none" cap="none" strike="noStrike">
                <a:solidFill>
                  <a:srgbClr val="0F1B2D"/>
                </a:solidFill>
                <a:latin typeface="IBM Plex Sans"/>
                <a:ea typeface="IBM Plex Sans"/>
                <a:cs typeface="IBM Plex Sans"/>
                <a:sym typeface="IBM Plex Sans"/>
              </a:rPr>
              <a:t>Lower curve = better.</a:t>
            </a:r>
            <a:r>
              <a:rPr b="0" i="0" lang="en-US" sz="1300" u="none" cap="none" strike="noStrike">
                <a:solidFill>
                  <a:srgbClr val="0F1B2D"/>
                </a:solidFill>
                <a:latin typeface="IBM Plex Sans"/>
                <a:ea typeface="IBM Plex Sans"/>
                <a:cs typeface="IBM Plex Sans"/>
                <a:sym typeface="IBM Plex Sans"/>
              </a:rPr>
              <a:t> Each point is one more user removed.</a:t>
            </a:r>
            <a:endParaRPr b="0" i="0" sz="1300" u="none" cap="none" strike="noStrike">
              <a:solidFill>
                <a:schemeClr val="dk1"/>
              </a:solidFill>
              <a:latin typeface="Calibri"/>
              <a:ea typeface="Calibri"/>
              <a:cs typeface="Calibri"/>
              <a:sym typeface="Calibri"/>
            </a:endParaRPr>
          </a:p>
        </p:txBody>
      </p:sp>
      <p:sp>
        <p:nvSpPr>
          <p:cNvPr id="216" name="Google Shape;216;p13"/>
          <p:cNvSpPr/>
          <p:nvPr/>
        </p:nvSpPr>
        <p:spPr>
          <a:xfrm>
            <a:off x="8623300" y="2519611"/>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300"/>
              <a:buFont typeface="IBM Plex Sans"/>
              <a:buNone/>
            </a:pPr>
            <a:r>
              <a:rPr b="1" i="0" lang="en-US" sz="1300" u="none" cap="none" strike="noStrike">
                <a:solidFill>
                  <a:srgbClr val="0F766E"/>
                </a:solidFill>
                <a:latin typeface="IBM Plex Sans"/>
                <a:ea typeface="IBM Plex Sans"/>
                <a:cs typeface="IBM Plex Sans"/>
                <a:sym typeface="IBM Plex Sans"/>
              </a:rPr>
              <a:t>ML</a:t>
            </a:r>
            <a:r>
              <a:rPr b="0" i="0" lang="en-US" sz="1300" u="none" cap="none" strike="noStrike">
                <a:solidFill>
                  <a:srgbClr val="0F1B2D"/>
                </a:solidFill>
                <a:latin typeface="IBM Plex Sans"/>
                <a:ea typeface="IBM Plex Sans"/>
                <a:cs typeface="IBM Plex Sans"/>
                <a:sym typeface="IBM Plex Sans"/>
              </a:rPr>
              <a:t> and </a:t>
            </a:r>
            <a:r>
              <a:rPr b="1" i="0" lang="en-US" sz="1300" u="none" cap="none" strike="noStrike">
                <a:solidFill>
                  <a:srgbClr val="5B3FC4"/>
                </a:solidFill>
                <a:latin typeface="IBM Plex Sans"/>
                <a:ea typeface="IBM Plex Sans"/>
                <a:cs typeface="IBM Plex Sans"/>
                <a:sym typeface="IBM Plex Sans"/>
              </a:rPr>
              <a:t>TASH-Index</a:t>
            </a:r>
            <a:r>
              <a:rPr b="0" i="0" lang="en-US" sz="1300" u="none" cap="none" strike="noStrike">
                <a:solidFill>
                  <a:srgbClr val="0F1B2D"/>
                </a:solidFill>
                <a:latin typeface="IBM Plex Sans"/>
                <a:ea typeface="IBM Plex Sans"/>
                <a:cs typeface="IBM Plex Sans"/>
                <a:sym typeface="IBM Plex Sans"/>
              </a:rPr>
              <a:t> stay close to optimal for top ranks.</a:t>
            </a:r>
            <a:endParaRPr b="0" i="0" sz="1300" u="none" cap="none" strike="noStrike">
              <a:solidFill>
                <a:schemeClr val="dk1"/>
              </a:solidFill>
              <a:latin typeface="Calibri"/>
              <a:ea typeface="Calibri"/>
              <a:cs typeface="Calibri"/>
              <a:sym typeface="Calibri"/>
            </a:endParaRPr>
          </a:p>
        </p:txBody>
      </p:sp>
      <p:sp>
        <p:nvSpPr>
          <p:cNvPr id="217" name="Google Shape;217;p13"/>
          <p:cNvSpPr/>
          <p:nvPr/>
        </p:nvSpPr>
        <p:spPr>
          <a:xfrm>
            <a:off x="8623300" y="3159671"/>
            <a:ext cx="2838577"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Amplifier and coordination scores alone lag far behind.</a:t>
            </a:r>
            <a:endParaRPr b="0" i="0" sz="1300" u="none" cap="none" strike="noStrike">
              <a:solidFill>
                <a:schemeClr val="dk1"/>
              </a:solidFill>
              <a:latin typeface="Calibri"/>
              <a:ea typeface="Calibri"/>
              <a:cs typeface="Calibri"/>
              <a:sym typeface="Calibri"/>
            </a:endParaRPr>
          </a:p>
        </p:txBody>
      </p:sp>
      <p:sp>
        <p:nvSpPr>
          <p:cNvPr id="218" name="Google Shape;218;p13"/>
          <p:cNvSpPr/>
          <p:nvPr/>
        </p:nvSpPr>
        <p:spPr>
          <a:xfrm>
            <a:off x="812800" y="6238280"/>
            <a:ext cx="216806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3 · VaccinItaly dataset</a:t>
            </a:r>
            <a:endParaRPr b="0" i="0" sz="1200" u="none" cap="none" strike="noStrike">
              <a:solidFill>
                <a:schemeClr val="dk1"/>
              </a:solidFill>
              <a:latin typeface="Calibri"/>
              <a:ea typeface="Calibri"/>
              <a:cs typeface="Calibri"/>
              <a:sym typeface="Calibri"/>
            </a:endParaRPr>
          </a:p>
        </p:txBody>
      </p:sp>
      <p:sp>
        <p:nvSpPr>
          <p:cNvPr id="219" name="Google Shape;219;p13"/>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lang="en-US" sz="1200">
                <a:solidFill>
                  <a:srgbClr val="556372"/>
                </a:solidFill>
                <a:latin typeface="IBM Plex Sans"/>
                <a:ea typeface="IBM Plex Sans"/>
                <a:cs typeface="IBM Plex Sans"/>
                <a:sym typeface="IBM Plex Sans"/>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24" name="Shape 224"/>
        <p:cNvGrpSpPr/>
        <p:nvPr/>
      </p:nvGrpSpPr>
      <p:grpSpPr>
        <a:xfrm>
          <a:off x="0" y="0"/>
          <a:ext cx="0" cy="0"/>
          <a:chOff x="0" y="0"/>
          <a:chExt cx="0" cy="0"/>
        </a:xfrm>
      </p:grpSpPr>
      <p:sp>
        <p:nvSpPr>
          <p:cNvPr id="225" name="Google Shape;225;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EXPLAINABILITY</a:t>
            </a:r>
            <a:endParaRPr b="0" i="0" sz="1200" u="none" cap="none" strike="noStrike">
              <a:solidFill>
                <a:schemeClr val="dk1"/>
              </a:solidFill>
              <a:latin typeface="Calibri"/>
              <a:ea typeface="Calibri"/>
              <a:cs typeface="Calibri"/>
              <a:sym typeface="Calibri"/>
            </a:endParaRPr>
          </a:p>
        </p:txBody>
      </p:sp>
      <p:sp>
        <p:nvSpPr>
          <p:cNvPr id="226" name="Google Shape;226;p14"/>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What drives the model overall: SHAP summary</a:t>
            </a:r>
            <a:endParaRPr b="0" i="0" sz="3200" u="none" cap="none" strike="noStrike">
              <a:solidFill>
                <a:schemeClr val="dk1"/>
              </a:solidFill>
              <a:latin typeface="Calibri"/>
              <a:ea typeface="Calibri"/>
              <a:cs typeface="Calibri"/>
              <a:sym typeface="Calibri"/>
            </a:endParaRPr>
          </a:p>
        </p:txBody>
      </p:sp>
      <p:sp>
        <p:nvSpPr>
          <p:cNvPr id="227" name="Google Shape;227;p14"/>
          <p:cNvSpPr/>
          <p:nvPr/>
        </p:nvSpPr>
        <p:spPr>
          <a:xfrm>
            <a:off x="812800" y="1879550"/>
            <a:ext cx="6726188" cy="3693120"/>
          </a:xfrm>
          <a:prstGeom prst="roundRect">
            <a:avLst>
              <a:gd fmla="val 275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4: SHAP summary plot; Repost-Count has the largest impact, followed by TAI-Score and TASH-Index" id="228" name="Google Shape;228;p14"/>
          <p:cNvPicPr preferRelativeResize="0"/>
          <p:nvPr/>
        </p:nvPicPr>
        <p:blipFill rotWithShape="1">
          <a:blip r:embed="rId3">
            <a:alphaModFix/>
          </a:blip>
          <a:srcRect b="-171" l="0" r="0" t="-171"/>
          <a:stretch/>
        </p:blipFill>
        <p:spPr>
          <a:xfrm>
            <a:off x="965200" y="2031950"/>
            <a:ext cx="6350000" cy="3098800"/>
          </a:xfrm>
          <a:prstGeom prst="rect">
            <a:avLst/>
          </a:prstGeom>
          <a:noFill/>
          <a:ln>
            <a:noFill/>
          </a:ln>
        </p:spPr>
      </p:pic>
      <p:sp>
        <p:nvSpPr>
          <p:cNvPr id="229" name="Google Shape;229;p14"/>
          <p:cNvSpPr/>
          <p:nvPr/>
        </p:nvSpPr>
        <p:spPr>
          <a:xfrm>
            <a:off x="965200" y="5206950"/>
            <a:ext cx="661403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4 — one dot per user · red = high feature value · right of 0 = pushes the user up the ranking</a:t>
            </a:r>
            <a:endParaRPr b="0" i="0" sz="1200" u="none" cap="none" strike="noStrike">
              <a:solidFill>
                <a:schemeClr val="dk1"/>
              </a:solidFill>
              <a:latin typeface="Calibri"/>
              <a:ea typeface="Calibri"/>
              <a:cs typeface="Calibri"/>
              <a:sym typeface="Calibri"/>
            </a:endParaRPr>
          </a:p>
        </p:txBody>
      </p:sp>
      <p:sp>
        <p:nvSpPr>
          <p:cNvPr id="230" name="Google Shape;230;p14"/>
          <p:cNvSpPr/>
          <p:nvPr/>
        </p:nvSpPr>
        <p:spPr>
          <a:xfrm>
            <a:off x="7843788" y="1879550"/>
            <a:ext cx="3641474"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2200"/>
              <a:buFont typeface="Fraunces"/>
              <a:buNone/>
            </a:pPr>
            <a:r>
              <a:rPr b="1" i="0" lang="en-US" sz="2200" u="none" cap="none" strike="noStrike">
                <a:solidFill>
                  <a:srgbClr val="0F766E"/>
                </a:solidFill>
                <a:latin typeface="Fraunces"/>
                <a:ea typeface="Fraunces"/>
                <a:cs typeface="Fraunces"/>
                <a:sym typeface="Fraunces"/>
              </a:rPr>
              <a:t>#1</a:t>
            </a:r>
            <a:endParaRPr b="0" i="0" sz="2200" u="none" cap="none" strike="noStrike">
              <a:solidFill>
                <a:schemeClr val="dk1"/>
              </a:solidFill>
              <a:latin typeface="Calibri"/>
              <a:ea typeface="Calibri"/>
              <a:cs typeface="Calibri"/>
              <a:sym typeface="Calibri"/>
            </a:endParaRPr>
          </a:p>
        </p:txBody>
      </p:sp>
      <p:sp>
        <p:nvSpPr>
          <p:cNvPr id="231" name="Google Shape;231;p14"/>
          <p:cNvSpPr/>
          <p:nvPr/>
        </p:nvSpPr>
        <p:spPr>
          <a:xfrm>
            <a:off x="7843788" y="2321471"/>
            <a:ext cx="364147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Repost Count</a:t>
            </a:r>
            <a:r>
              <a:rPr b="0" i="0" lang="en-US" sz="1400" u="none" cap="none" strike="noStrike">
                <a:solidFill>
                  <a:srgbClr val="0F1B2D"/>
                </a:solidFill>
                <a:latin typeface="IBM Plex Sans"/>
                <a:ea typeface="IBM Plex Sans"/>
                <a:cs typeface="IBM Plex Sans"/>
                <a:sym typeface="IBM Plex Sans"/>
              </a:rPr>
              <a:t> (amplifiers): frequent resharing is the strongest signal</a:t>
            </a:r>
            <a:endParaRPr b="0" i="0" sz="1400" u="none" cap="none" strike="noStrike">
              <a:solidFill>
                <a:schemeClr val="dk1"/>
              </a:solidFill>
              <a:latin typeface="Calibri"/>
              <a:ea typeface="Calibri"/>
              <a:cs typeface="Calibri"/>
              <a:sym typeface="Calibri"/>
            </a:endParaRPr>
          </a:p>
        </p:txBody>
      </p:sp>
      <p:sp>
        <p:nvSpPr>
          <p:cNvPr id="232" name="Google Shape;232;p14"/>
          <p:cNvSpPr/>
          <p:nvPr/>
        </p:nvSpPr>
        <p:spPr>
          <a:xfrm>
            <a:off x="7843788" y="2997051"/>
            <a:ext cx="3641474"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2200"/>
              <a:buFont typeface="Fraunces"/>
              <a:buNone/>
            </a:pPr>
            <a:r>
              <a:rPr b="1" i="0" lang="en-US" sz="2200" u="none" cap="none" strike="noStrike">
                <a:solidFill>
                  <a:srgbClr val="0F1B2D"/>
                </a:solidFill>
                <a:latin typeface="Fraunces"/>
                <a:ea typeface="Fraunces"/>
                <a:cs typeface="Fraunces"/>
                <a:sym typeface="Fraunces"/>
              </a:rPr>
              <a:t>#2–3</a:t>
            </a:r>
            <a:endParaRPr b="0" i="0" sz="2200" u="none" cap="none" strike="noStrike">
              <a:solidFill>
                <a:schemeClr val="dk1"/>
              </a:solidFill>
              <a:latin typeface="Calibri"/>
              <a:ea typeface="Calibri"/>
              <a:cs typeface="Calibri"/>
              <a:sym typeface="Calibri"/>
            </a:endParaRPr>
          </a:p>
        </p:txBody>
      </p:sp>
      <p:sp>
        <p:nvSpPr>
          <p:cNvPr id="233" name="Google Shape;233;p14"/>
          <p:cNvSpPr/>
          <p:nvPr/>
        </p:nvSpPr>
        <p:spPr>
          <a:xfrm>
            <a:off x="7843788" y="3438971"/>
            <a:ext cx="364147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TAI-Score</a:t>
            </a:r>
            <a:r>
              <a:rPr b="0" i="0" lang="en-US" sz="1400" u="none" cap="none" strike="noStrike">
                <a:solidFill>
                  <a:srgbClr val="0F1B2D"/>
                </a:solidFill>
                <a:latin typeface="IBM Plex Sans"/>
                <a:ea typeface="IBM Plex Sans"/>
                <a:cs typeface="IBM Plex Sans"/>
                <a:sym typeface="IBM Plex Sans"/>
              </a:rPr>
              <a:t> and </a:t>
            </a:r>
            <a:r>
              <a:rPr b="1" i="0" lang="en-US" sz="1400" u="none" cap="none" strike="noStrike">
                <a:solidFill>
                  <a:srgbClr val="0F1B2D"/>
                </a:solidFill>
                <a:latin typeface="IBM Plex Sans"/>
                <a:ea typeface="IBM Plex Sans"/>
                <a:cs typeface="IBM Plex Sans"/>
                <a:sym typeface="IBM Plex Sans"/>
              </a:rPr>
              <a:t>TASH-Index</a:t>
            </a:r>
            <a:r>
              <a:rPr b="0" i="0" lang="en-US" sz="1400" u="none" cap="none" strike="noStrike">
                <a:solidFill>
                  <a:srgbClr val="0F1B2D"/>
                </a:solidFill>
                <a:latin typeface="IBM Plex Sans"/>
                <a:ea typeface="IBM Plex Sans"/>
                <a:cs typeface="IBM Plex Sans"/>
                <a:sym typeface="IBM Plex Sans"/>
              </a:rPr>
              <a:t> (super-spreaders)</a:t>
            </a:r>
            <a:endParaRPr b="0" i="0" sz="1400" u="none" cap="none" strike="noStrike">
              <a:solidFill>
                <a:schemeClr val="dk1"/>
              </a:solidFill>
              <a:latin typeface="Calibri"/>
              <a:ea typeface="Calibri"/>
              <a:cs typeface="Calibri"/>
              <a:sym typeface="Calibri"/>
            </a:endParaRPr>
          </a:p>
        </p:txBody>
      </p:sp>
      <p:sp>
        <p:nvSpPr>
          <p:cNvPr id="234" name="Google Shape;234;p14"/>
          <p:cNvSpPr/>
          <p:nvPr/>
        </p:nvSpPr>
        <p:spPr>
          <a:xfrm>
            <a:off x="7843788" y="4114552"/>
            <a:ext cx="4242495"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Coordination and EaR features contribute less.</a:t>
            </a:r>
            <a:endParaRPr b="0" i="0" sz="1300" u="none" cap="none" strike="noStrike">
              <a:solidFill>
                <a:schemeClr val="dk1"/>
              </a:solidFill>
              <a:latin typeface="Calibri"/>
              <a:ea typeface="Calibri"/>
              <a:cs typeface="Calibri"/>
              <a:sym typeface="Calibri"/>
            </a:endParaRPr>
          </a:p>
        </p:txBody>
      </p:sp>
      <p:sp>
        <p:nvSpPr>
          <p:cNvPr id="235" name="Google Shape;235;p14"/>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236" name="Google Shape;236;p14"/>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41" name="Shape 241"/>
        <p:cNvGrpSpPr/>
        <p:nvPr/>
      </p:nvGrpSpPr>
      <p:grpSpPr>
        <a:xfrm>
          <a:off x="0" y="0"/>
          <a:ext cx="0" cy="0"/>
          <a:chOff x="0" y="0"/>
          <a:chExt cx="0" cy="0"/>
        </a:xfrm>
      </p:grpSpPr>
      <p:sp>
        <p:nvSpPr>
          <p:cNvPr id="242" name="Google Shape;242;p15"/>
          <p:cNvSpPr/>
          <p:nvPr/>
        </p:nvSpPr>
        <p:spPr>
          <a:xfrm>
            <a:off x="812800" y="812800"/>
            <a:ext cx="10883392" cy="235148"/>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0F766E"/>
              </a:buClr>
              <a:buSzPts val="1196"/>
              <a:buFont typeface="IBM Plex Sans"/>
              <a:buNone/>
            </a:pPr>
            <a:r>
              <a:rPr b="1" i="0" lang="en-US" sz="1196" u="none" cap="none" strike="noStrike">
                <a:solidFill>
                  <a:srgbClr val="0F766E"/>
                </a:solidFill>
                <a:latin typeface="IBM Plex Sans"/>
                <a:ea typeface="IBM Plex Sans"/>
                <a:cs typeface="IBM Plex Sans"/>
                <a:sym typeface="IBM Plex Sans"/>
              </a:rPr>
              <a:t>RESULTS · EXPLAINABILITY BY RANK</a:t>
            </a:r>
            <a:endParaRPr b="0" i="0" sz="1196" u="none" cap="none" strike="noStrike">
              <a:solidFill>
                <a:schemeClr val="dk1"/>
              </a:solidFill>
              <a:latin typeface="Calibri"/>
              <a:ea typeface="Calibri"/>
              <a:cs typeface="Calibri"/>
              <a:sym typeface="Calibri"/>
            </a:endParaRPr>
          </a:p>
        </p:txBody>
      </p:sp>
      <p:sp>
        <p:nvSpPr>
          <p:cNvPr id="243" name="Google Shape;243;p15"/>
          <p:cNvSpPr/>
          <p:nvPr/>
        </p:nvSpPr>
        <p:spPr>
          <a:xfrm>
            <a:off x="812800" y="1124148"/>
            <a:ext cx="10883392" cy="46488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150"/>
              <a:buFont typeface="Fraunces"/>
              <a:buNone/>
            </a:pPr>
            <a:r>
              <a:rPr b="0" i="0" lang="en-US" sz="3150" u="none" cap="none" strike="noStrike">
                <a:solidFill>
                  <a:srgbClr val="0F1B2D"/>
                </a:solidFill>
                <a:latin typeface="Fraunces"/>
                <a:ea typeface="Fraunces"/>
                <a:cs typeface="Fraunces"/>
                <a:sym typeface="Fraunces"/>
              </a:rPr>
              <a:t>Different archetypes matter at different ranks</a:t>
            </a:r>
            <a:endParaRPr b="0" i="0" sz="3150" u="none" cap="none" strike="noStrike">
              <a:solidFill>
                <a:schemeClr val="dk1"/>
              </a:solidFill>
              <a:latin typeface="Calibri"/>
              <a:ea typeface="Calibri"/>
              <a:cs typeface="Calibri"/>
              <a:sym typeface="Calibri"/>
            </a:endParaRPr>
          </a:p>
        </p:txBody>
      </p:sp>
      <p:sp>
        <p:nvSpPr>
          <p:cNvPr id="244" name="Google Shape;244;p15"/>
          <p:cNvSpPr/>
          <p:nvPr/>
        </p:nvSpPr>
        <p:spPr>
          <a:xfrm>
            <a:off x="812800" y="1868438"/>
            <a:ext cx="5842000" cy="4032250"/>
          </a:xfrm>
          <a:prstGeom prst="roundRect">
            <a:avLst>
              <a:gd fmla="val 252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5: SHAP decision plots for ranks 1–10, 10–100, 100–1000 and 1000–3000; top features shift from TASH-Index and TAI-Score to Repost-Count and Coord-Centrality" id="245" name="Google Shape;245;p15"/>
          <p:cNvPicPr preferRelativeResize="0"/>
          <p:nvPr/>
        </p:nvPicPr>
        <p:blipFill rotWithShape="1">
          <a:blip r:embed="rId3">
            <a:alphaModFix/>
          </a:blip>
          <a:srcRect b="-18" l="0" r="0" t="-18"/>
          <a:stretch/>
        </p:blipFill>
        <p:spPr>
          <a:xfrm>
            <a:off x="939800" y="1995438"/>
            <a:ext cx="5588000" cy="3778250"/>
          </a:xfrm>
          <a:prstGeom prst="rect">
            <a:avLst/>
          </a:prstGeom>
          <a:noFill/>
          <a:ln>
            <a:noFill/>
          </a:ln>
        </p:spPr>
      </p:pic>
      <p:sp>
        <p:nvSpPr>
          <p:cNvPr id="246" name="Google Shape;246;p15"/>
          <p:cNvSpPr/>
          <p:nvPr/>
        </p:nvSpPr>
        <p:spPr>
          <a:xfrm>
            <a:off x="6959600" y="1868438"/>
            <a:ext cx="11303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1–10</a:t>
            </a:r>
            <a:endParaRPr b="0" i="0" sz="1300" u="none" cap="none" strike="noStrike">
              <a:solidFill>
                <a:schemeClr val="dk1"/>
              </a:solidFill>
              <a:latin typeface="Calibri"/>
              <a:ea typeface="Calibri"/>
              <a:cs typeface="Calibri"/>
              <a:sym typeface="Calibri"/>
            </a:endParaRPr>
          </a:p>
        </p:txBody>
      </p:sp>
      <p:sp>
        <p:nvSpPr>
          <p:cNvPr id="247" name="Google Shape;247;p15"/>
          <p:cNvSpPr/>
          <p:nvPr/>
        </p:nvSpPr>
        <p:spPr>
          <a:xfrm>
            <a:off x="8166100" y="1868438"/>
            <a:ext cx="33094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TASH &amp; TAI lead → </a:t>
            </a:r>
            <a:r>
              <a:rPr b="1" i="0" lang="en-US" sz="1300" u="none" cap="none" strike="noStrike">
                <a:solidFill>
                  <a:srgbClr val="0F1B2D"/>
                </a:solidFill>
                <a:latin typeface="IBM Plex Sans"/>
                <a:ea typeface="IBM Plex Sans"/>
                <a:cs typeface="IBM Plex Sans"/>
                <a:sym typeface="IBM Plex Sans"/>
              </a:rPr>
              <a:t>super-spreaders</a:t>
            </a:r>
            <a:endParaRPr b="0" i="0" sz="1300" u="none" cap="none" strike="noStrike">
              <a:solidFill>
                <a:schemeClr val="dk1"/>
              </a:solidFill>
              <a:latin typeface="Calibri"/>
              <a:ea typeface="Calibri"/>
              <a:cs typeface="Calibri"/>
              <a:sym typeface="Calibri"/>
            </a:endParaRPr>
          </a:p>
        </p:txBody>
      </p:sp>
      <p:sp>
        <p:nvSpPr>
          <p:cNvPr id="248" name="Google Shape;248;p15"/>
          <p:cNvSpPr/>
          <p:nvPr/>
        </p:nvSpPr>
        <p:spPr>
          <a:xfrm>
            <a:off x="6959600" y="2239268"/>
            <a:ext cx="113030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10–100</a:t>
            </a:r>
            <a:endParaRPr b="0" i="0" sz="1300" u="none" cap="none" strike="noStrike">
              <a:solidFill>
                <a:schemeClr val="dk1"/>
              </a:solidFill>
              <a:latin typeface="Calibri"/>
              <a:ea typeface="Calibri"/>
              <a:cs typeface="Calibri"/>
              <a:sym typeface="Calibri"/>
            </a:endParaRPr>
          </a:p>
        </p:txBody>
      </p:sp>
      <p:sp>
        <p:nvSpPr>
          <p:cNvPr id="249" name="Google Shape;249;p15"/>
          <p:cNvSpPr/>
          <p:nvPr/>
        </p:nvSpPr>
        <p:spPr>
          <a:xfrm>
            <a:off x="8166100" y="2239268"/>
            <a:ext cx="3309493"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and Coord-Centrality join → </a:t>
            </a:r>
            <a:r>
              <a:rPr b="1" i="0" lang="en-US" sz="1300" u="none" cap="none" strike="noStrike">
                <a:solidFill>
                  <a:srgbClr val="0F1B2D"/>
                </a:solidFill>
                <a:latin typeface="IBM Plex Sans"/>
                <a:ea typeface="IBM Plex Sans"/>
                <a:cs typeface="IBM Plex Sans"/>
                <a:sym typeface="IBM Plex Sans"/>
              </a:rPr>
              <a:t>hybrid</a:t>
            </a:r>
            <a:r>
              <a:rPr b="0" i="0" lang="en-US" sz="1300" u="none" cap="none" strike="noStrike">
                <a:solidFill>
                  <a:srgbClr val="0F1B2D"/>
                </a:solidFill>
                <a:latin typeface="IBM Plex Sans"/>
                <a:ea typeface="IBM Plex Sans"/>
                <a:cs typeface="IBM Plex Sans"/>
                <a:sym typeface="IBM Plex Sans"/>
              </a:rPr>
              <a:t> users</a:t>
            </a:r>
            <a:endParaRPr b="0" i="0" sz="1300" u="none" cap="none" strike="noStrike">
              <a:solidFill>
                <a:schemeClr val="dk1"/>
              </a:solidFill>
              <a:latin typeface="Calibri"/>
              <a:ea typeface="Calibri"/>
              <a:cs typeface="Calibri"/>
              <a:sym typeface="Calibri"/>
            </a:endParaRPr>
          </a:p>
        </p:txBody>
      </p:sp>
      <p:sp>
        <p:nvSpPr>
          <p:cNvPr id="250" name="Google Shape;250;p15"/>
          <p:cNvSpPr/>
          <p:nvPr/>
        </p:nvSpPr>
        <p:spPr>
          <a:xfrm>
            <a:off x="6959600" y="2841228"/>
            <a:ext cx="1130300"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100–1000</a:t>
            </a:r>
            <a:endParaRPr b="0" i="0" sz="1300" u="none" cap="none" strike="noStrike">
              <a:solidFill>
                <a:schemeClr val="dk1"/>
              </a:solidFill>
              <a:latin typeface="Calibri"/>
              <a:ea typeface="Calibri"/>
              <a:cs typeface="Calibri"/>
              <a:sym typeface="Calibri"/>
            </a:endParaRPr>
          </a:p>
        </p:txBody>
      </p:sp>
      <p:sp>
        <p:nvSpPr>
          <p:cNvPr id="251" name="Google Shape;251;p15"/>
          <p:cNvSpPr/>
          <p:nvPr/>
        </p:nvSpPr>
        <p:spPr>
          <a:xfrm>
            <a:off x="8166100" y="2841228"/>
            <a:ext cx="3309493"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leads → </a:t>
            </a:r>
            <a:r>
              <a:rPr b="1" i="0" lang="en-US" sz="1300" u="none" cap="none" strike="noStrike">
                <a:solidFill>
                  <a:srgbClr val="0F766E"/>
                </a:solidFill>
                <a:latin typeface="IBM Plex Sans"/>
                <a:ea typeface="IBM Plex Sans"/>
                <a:cs typeface="IBM Plex Sans"/>
                <a:sym typeface="IBM Plex Sans"/>
              </a:rPr>
              <a:t>amplifiers</a:t>
            </a:r>
            <a:r>
              <a:rPr b="0" i="0" lang="en-US" sz="1300" u="none" cap="none" strike="noStrike">
                <a:solidFill>
                  <a:srgbClr val="0F1B2D"/>
                </a:solidFill>
                <a:latin typeface="IBM Plex Sans"/>
                <a:ea typeface="IBM Plex Sans"/>
                <a:cs typeface="IBM Plex Sans"/>
                <a:sym typeface="IBM Plex Sans"/>
              </a:rPr>
              <a:t>, with </a:t>
            </a:r>
            <a:r>
              <a:rPr b="1" i="0" lang="en-US" sz="1300" u="none" cap="none" strike="noStrike">
                <a:solidFill>
                  <a:srgbClr val="5B3FC4"/>
                </a:solidFill>
                <a:latin typeface="IBM Plex Sans"/>
                <a:ea typeface="IBM Plex Sans"/>
                <a:cs typeface="IBM Plex Sans"/>
                <a:sym typeface="IBM Plex Sans"/>
              </a:rPr>
              <a:t>coordination</a:t>
            </a:r>
            <a:r>
              <a:rPr b="0" i="0" lang="en-US" sz="1300" u="none" cap="none" strike="noStrike">
                <a:solidFill>
                  <a:srgbClr val="0F1B2D"/>
                </a:solidFill>
                <a:latin typeface="IBM Plex Sans"/>
                <a:ea typeface="IBM Plex Sans"/>
                <a:cs typeface="IBM Plex Sans"/>
                <a:sym typeface="IBM Plex Sans"/>
              </a:rPr>
              <a:t> rising</a:t>
            </a:r>
            <a:endParaRPr b="0" i="0" sz="1300" u="none" cap="none" strike="noStrike">
              <a:solidFill>
                <a:schemeClr val="dk1"/>
              </a:solidFill>
              <a:latin typeface="Calibri"/>
              <a:ea typeface="Calibri"/>
              <a:cs typeface="Calibri"/>
              <a:sym typeface="Calibri"/>
            </a:endParaRPr>
          </a:p>
        </p:txBody>
      </p:sp>
      <p:sp>
        <p:nvSpPr>
          <p:cNvPr id="252" name="Google Shape;252;p15"/>
          <p:cNvSpPr/>
          <p:nvPr/>
        </p:nvSpPr>
        <p:spPr>
          <a:xfrm>
            <a:off x="6959600" y="3443188"/>
            <a:ext cx="11303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Mono"/>
              <a:buNone/>
            </a:pPr>
            <a:r>
              <a:rPr b="0" i="0" lang="en-US" sz="1300" u="none" cap="none" strike="noStrike">
                <a:solidFill>
                  <a:srgbClr val="0F1B2D"/>
                </a:solidFill>
                <a:latin typeface="IBM Plex Mono"/>
                <a:ea typeface="IBM Plex Mono"/>
                <a:cs typeface="IBM Plex Mono"/>
                <a:sym typeface="IBM Plex Mono"/>
              </a:rPr>
              <a:t>1000–3000</a:t>
            </a:r>
            <a:endParaRPr b="0" i="0" sz="1300" u="none" cap="none" strike="noStrike">
              <a:solidFill>
                <a:schemeClr val="dk1"/>
              </a:solidFill>
              <a:latin typeface="Calibri"/>
              <a:ea typeface="Calibri"/>
              <a:cs typeface="Calibri"/>
              <a:sym typeface="Calibri"/>
            </a:endParaRPr>
          </a:p>
        </p:txBody>
      </p:sp>
      <p:sp>
        <p:nvSpPr>
          <p:cNvPr id="253" name="Google Shape;253;p15"/>
          <p:cNvSpPr/>
          <p:nvPr/>
        </p:nvSpPr>
        <p:spPr>
          <a:xfrm>
            <a:off x="8166100" y="3443188"/>
            <a:ext cx="33094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Repost Count still first → the long tail</a:t>
            </a:r>
            <a:endParaRPr b="0" i="0" sz="1300" u="none" cap="none" strike="noStrike">
              <a:solidFill>
                <a:schemeClr val="dk1"/>
              </a:solidFill>
              <a:latin typeface="Calibri"/>
              <a:ea typeface="Calibri"/>
              <a:cs typeface="Calibri"/>
              <a:sym typeface="Calibri"/>
            </a:endParaRPr>
          </a:p>
        </p:txBody>
      </p:sp>
      <p:cxnSp>
        <p:nvCxnSpPr>
          <p:cNvPr id="254" name="Google Shape;254;p15"/>
          <p:cNvCxnSpPr/>
          <p:nvPr/>
        </p:nvCxnSpPr>
        <p:spPr>
          <a:xfrm>
            <a:off x="6959600" y="3820368"/>
            <a:ext cx="4419600" cy="0"/>
          </a:xfrm>
          <a:prstGeom prst="straightConnector1">
            <a:avLst/>
          </a:prstGeom>
          <a:noFill/>
          <a:ln cap="flat" cmpd="sng" w="12700">
            <a:solidFill>
              <a:srgbClr val="0F1B2D"/>
            </a:solidFill>
            <a:prstDash val="solid"/>
            <a:round/>
            <a:headEnd len="sm" w="sm" type="none"/>
            <a:tailEnd len="sm" w="sm" type="none"/>
          </a:ln>
        </p:spPr>
      </p:cxnSp>
      <p:sp>
        <p:nvSpPr>
          <p:cNvPr id="255" name="Google Shape;255;p15"/>
          <p:cNvSpPr/>
          <p:nvPr/>
        </p:nvSpPr>
        <p:spPr>
          <a:xfrm>
            <a:off x="6959600" y="3953718"/>
            <a:ext cx="4552188"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Super-spreaders start</a:t>
            </a:r>
            <a:r>
              <a:rPr b="0" i="0" lang="en-US" sz="1400" u="none" cap="none" strike="noStrike">
                <a:solidFill>
                  <a:srgbClr val="0F1B2D"/>
                </a:solidFill>
                <a:latin typeface="IBM Plex Sans"/>
                <a:ea typeface="IBM Plex Sans"/>
                <a:cs typeface="IBM Plex Sans"/>
                <a:sym typeface="IBM Plex Sans"/>
              </a:rPr>
              <a:t> the cascade; amplifiers and coordinated accounts </a:t>
            </a:r>
            <a:r>
              <a:rPr b="1" i="0" lang="en-US" sz="1400" u="none" cap="none" strike="noStrike">
                <a:solidFill>
                  <a:srgbClr val="0F1B2D"/>
                </a:solidFill>
                <a:latin typeface="IBM Plex Sans"/>
                <a:ea typeface="IBM Plex Sans"/>
                <a:cs typeface="IBM Plex Sans"/>
                <a:sym typeface="IBM Plex Sans"/>
              </a:rPr>
              <a:t>keep it going</a:t>
            </a:r>
            <a:r>
              <a:rPr b="0" i="0" lang="en-US" sz="1400" u="none" cap="none" strike="noStrike">
                <a:solidFill>
                  <a:srgbClr val="0F1B2D"/>
                </a:solidFill>
                <a:latin typeface="IBM Plex Sans"/>
                <a:ea typeface="IBM Plex Sans"/>
                <a:cs typeface="IBM Plex Sans"/>
                <a:sym typeface="IBM Plex Sans"/>
              </a:rPr>
              <a:t>.</a:t>
            </a:r>
            <a:endParaRPr b="0" i="0" sz="1400" u="none" cap="none" strike="noStrike">
              <a:solidFill>
                <a:schemeClr val="dk1"/>
              </a:solidFill>
              <a:latin typeface="Calibri"/>
              <a:ea typeface="Calibri"/>
              <a:cs typeface="Calibri"/>
              <a:sym typeface="Calibri"/>
            </a:endParaRPr>
          </a:p>
        </p:txBody>
      </p:sp>
      <p:sp>
        <p:nvSpPr>
          <p:cNvPr id="256" name="Google Shape;256;p15"/>
          <p:cNvSpPr/>
          <p:nvPr/>
        </p:nvSpPr>
        <p:spPr>
          <a:xfrm>
            <a:off x="812800" y="6238280"/>
            <a:ext cx="362765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5 · SHAP decision plots per rank interval</a:t>
            </a:r>
            <a:endParaRPr b="0" i="0" sz="1200" u="none" cap="none" strike="noStrike">
              <a:solidFill>
                <a:schemeClr val="dk1"/>
              </a:solidFill>
              <a:latin typeface="Calibri"/>
              <a:ea typeface="Calibri"/>
              <a:cs typeface="Calibri"/>
              <a:sym typeface="Calibri"/>
            </a:endParaRPr>
          </a:p>
        </p:txBody>
      </p:sp>
      <p:sp>
        <p:nvSpPr>
          <p:cNvPr id="257" name="Google Shape;257;p15"/>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62" name="Shape 262"/>
        <p:cNvGrpSpPr/>
        <p:nvPr/>
      </p:nvGrpSpPr>
      <p:grpSpPr>
        <a:xfrm>
          <a:off x="0" y="0"/>
          <a:ext cx="0" cy="0"/>
          <a:chOff x="0" y="0"/>
          <a:chExt cx="0" cy="0"/>
        </a:xfrm>
      </p:grpSpPr>
      <p:sp>
        <p:nvSpPr>
          <p:cNvPr id="263" name="Google Shape;263;p1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RESULTS · DATA SCARCITY</a:t>
            </a:r>
            <a:endParaRPr b="0" i="0" sz="1200" u="none" cap="none" strike="noStrike">
              <a:solidFill>
                <a:schemeClr val="dk1"/>
              </a:solidFill>
              <a:latin typeface="Calibri"/>
              <a:ea typeface="Calibri"/>
              <a:cs typeface="Calibri"/>
              <a:sym typeface="Calibri"/>
            </a:endParaRPr>
          </a:p>
        </p:txBody>
      </p:sp>
      <p:sp>
        <p:nvSpPr>
          <p:cNvPr id="264" name="Google Shape;264;p16"/>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How much history does each model need?</a:t>
            </a:r>
            <a:endParaRPr b="0" i="0" sz="3200" u="none" cap="none" strike="noStrike">
              <a:solidFill>
                <a:schemeClr val="dk1"/>
              </a:solidFill>
              <a:latin typeface="Calibri"/>
              <a:ea typeface="Calibri"/>
              <a:cs typeface="Calibri"/>
              <a:sym typeface="Calibri"/>
            </a:endParaRPr>
          </a:p>
        </p:txBody>
      </p:sp>
      <p:sp>
        <p:nvSpPr>
          <p:cNvPr id="265" name="Google Shape;265;p16"/>
          <p:cNvSpPr/>
          <p:nvPr/>
        </p:nvSpPr>
        <p:spPr>
          <a:xfrm>
            <a:off x="812800" y="1879550"/>
            <a:ext cx="6400800" cy="3597870"/>
          </a:xfrm>
          <a:prstGeom prst="roundRect">
            <a:avLst>
              <a:gd fmla="val 282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 6: nDCG@10 versus number of observed days from 255 to 30 for ML re-trained, ML pre-trained, H-Index and TASH-Index" id="266" name="Google Shape;266;p16"/>
          <p:cNvPicPr preferRelativeResize="0"/>
          <p:nvPr/>
        </p:nvPicPr>
        <p:blipFill rotWithShape="1">
          <a:blip r:embed="rId3">
            <a:alphaModFix/>
          </a:blip>
          <a:srcRect b="0" l="-45" r="-45" t="0"/>
          <a:stretch/>
        </p:blipFill>
        <p:spPr>
          <a:xfrm>
            <a:off x="965200" y="2031950"/>
            <a:ext cx="6096000" cy="3003550"/>
          </a:xfrm>
          <a:prstGeom prst="rect">
            <a:avLst/>
          </a:prstGeom>
          <a:noFill/>
          <a:ln>
            <a:noFill/>
          </a:ln>
        </p:spPr>
      </p:pic>
      <p:sp>
        <p:nvSpPr>
          <p:cNvPr id="267" name="Google Shape;267;p16"/>
          <p:cNvSpPr/>
          <p:nvPr/>
        </p:nvSpPr>
        <p:spPr>
          <a:xfrm>
            <a:off x="965200" y="5111700"/>
            <a:ext cx="627888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Fig. 6 — nDCG@10 as the observation window shrinks from 255 to 30 days.</a:t>
            </a:r>
            <a:endParaRPr b="0" i="0" sz="1200" u="none" cap="none" strike="noStrike">
              <a:solidFill>
                <a:schemeClr val="dk1"/>
              </a:solidFill>
              <a:latin typeface="Calibri"/>
              <a:ea typeface="Calibri"/>
              <a:cs typeface="Calibri"/>
              <a:sym typeface="Calibri"/>
            </a:endParaRPr>
          </a:p>
        </p:txBody>
      </p:sp>
      <p:cxnSp>
        <p:nvCxnSpPr>
          <p:cNvPr id="268" name="Google Shape;268;p16"/>
          <p:cNvCxnSpPr/>
          <p:nvPr/>
        </p:nvCxnSpPr>
        <p:spPr>
          <a:xfrm>
            <a:off x="7531100" y="1879550"/>
            <a:ext cx="0" cy="495250"/>
          </a:xfrm>
          <a:prstGeom prst="straightConnector1">
            <a:avLst/>
          </a:prstGeom>
          <a:noFill/>
          <a:ln cap="flat" cmpd="sng" w="25400">
            <a:solidFill>
              <a:srgbClr val="2F7D32"/>
            </a:solidFill>
            <a:prstDash val="solid"/>
            <a:round/>
            <a:headEnd len="sm" w="sm" type="none"/>
            <a:tailEnd len="sm" w="sm" type="none"/>
          </a:ln>
        </p:spPr>
      </p:cxnSp>
      <p:sp>
        <p:nvSpPr>
          <p:cNvPr id="269" name="Google Shape;269;p16"/>
          <p:cNvSpPr/>
          <p:nvPr/>
        </p:nvSpPr>
        <p:spPr>
          <a:xfrm>
            <a:off x="7670800" y="1879550"/>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TASH-Index</a:t>
            </a:r>
            <a:endParaRPr b="0" i="0" sz="1400" u="none" cap="none" strike="noStrike">
              <a:solidFill>
                <a:schemeClr val="dk1"/>
              </a:solidFill>
              <a:latin typeface="Calibri"/>
              <a:ea typeface="Calibri"/>
              <a:cs typeface="Calibri"/>
              <a:sym typeface="Calibri"/>
            </a:endParaRPr>
          </a:p>
        </p:txBody>
      </p:sp>
      <p:sp>
        <p:nvSpPr>
          <p:cNvPr id="270" name="Google Shape;270;p16"/>
          <p:cNvSpPr/>
          <p:nvPr/>
        </p:nvSpPr>
        <p:spPr>
          <a:xfrm>
            <a:off x="7670800" y="214367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Stable at ≈ 0.93 even with 30 days</a:t>
            </a:r>
            <a:endParaRPr b="0" i="0" sz="1300" u="none" cap="none" strike="noStrike">
              <a:solidFill>
                <a:schemeClr val="dk1"/>
              </a:solidFill>
              <a:latin typeface="Calibri"/>
              <a:ea typeface="Calibri"/>
              <a:cs typeface="Calibri"/>
              <a:sym typeface="Calibri"/>
            </a:endParaRPr>
          </a:p>
        </p:txBody>
      </p:sp>
      <p:cxnSp>
        <p:nvCxnSpPr>
          <p:cNvPr id="271" name="Google Shape;271;p16"/>
          <p:cNvCxnSpPr/>
          <p:nvPr/>
        </p:nvCxnSpPr>
        <p:spPr>
          <a:xfrm>
            <a:off x="7531100" y="2527201"/>
            <a:ext cx="0" cy="495250"/>
          </a:xfrm>
          <a:prstGeom prst="straightConnector1">
            <a:avLst/>
          </a:prstGeom>
          <a:noFill/>
          <a:ln cap="flat" cmpd="sng" w="25400">
            <a:solidFill>
              <a:srgbClr val="1F4FD1"/>
            </a:solidFill>
            <a:prstDash val="solid"/>
            <a:round/>
            <a:headEnd len="sm" w="sm" type="none"/>
            <a:tailEnd len="sm" w="sm" type="none"/>
          </a:ln>
        </p:spPr>
      </p:cxnSp>
      <p:sp>
        <p:nvSpPr>
          <p:cNvPr id="272" name="Google Shape;272;p16"/>
          <p:cNvSpPr/>
          <p:nvPr/>
        </p:nvSpPr>
        <p:spPr>
          <a:xfrm>
            <a:off x="7670800" y="2527201"/>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ML, pre-trained</a:t>
            </a:r>
            <a:endParaRPr b="0" i="0" sz="1400" u="none" cap="none" strike="noStrike">
              <a:solidFill>
                <a:schemeClr val="dk1"/>
              </a:solidFill>
              <a:latin typeface="Calibri"/>
              <a:ea typeface="Calibri"/>
              <a:cs typeface="Calibri"/>
              <a:sym typeface="Calibri"/>
            </a:endParaRPr>
          </a:p>
        </p:txBody>
      </p:sp>
      <p:sp>
        <p:nvSpPr>
          <p:cNvPr id="273" name="Google Shape;273;p16"/>
          <p:cNvSpPr/>
          <p:nvPr/>
        </p:nvSpPr>
        <p:spPr>
          <a:xfrm>
            <a:off x="7670800" y="279132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Stable; drops only at 30 days</a:t>
            </a:r>
            <a:endParaRPr b="0" i="0" sz="1300" u="none" cap="none" strike="noStrike">
              <a:solidFill>
                <a:schemeClr val="dk1"/>
              </a:solidFill>
              <a:latin typeface="Calibri"/>
              <a:ea typeface="Calibri"/>
              <a:cs typeface="Calibri"/>
              <a:sym typeface="Calibri"/>
            </a:endParaRPr>
          </a:p>
        </p:txBody>
      </p:sp>
      <p:cxnSp>
        <p:nvCxnSpPr>
          <p:cNvPr id="274" name="Google Shape;274;p16"/>
          <p:cNvCxnSpPr/>
          <p:nvPr/>
        </p:nvCxnSpPr>
        <p:spPr>
          <a:xfrm>
            <a:off x="7531100" y="3174851"/>
            <a:ext cx="0" cy="495250"/>
          </a:xfrm>
          <a:prstGeom prst="straightConnector1">
            <a:avLst/>
          </a:prstGeom>
          <a:noFill/>
          <a:ln cap="flat" cmpd="sng" w="25400">
            <a:solidFill>
              <a:srgbClr val="6B2D7A"/>
            </a:solidFill>
            <a:prstDash val="solid"/>
            <a:round/>
            <a:headEnd len="sm" w="sm" type="none"/>
            <a:tailEnd len="sm" w="sm" type="none"/>
          </a:ln>
        </p:spPr>
      </p:cxnSp>
      <p:sp>
        <p:nvSpPr>
          <p:cNvPr id="275" name="Google Shape;275;p16"/>
          <p:cNvSpPr/>
          <p:nvPr/>
        </p:nvSpPr>
        <p:spPr>
          <a:xfrm>
            <a:off x="7670800" y="3174851"/>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ML, re-trained</a:t>
            </a:r>
            <a:endParaRPr b="0" i="0" sz="1400" u="none" cap="none" strike="noStrike">
              <a:solidFill>
                <a:schemeClr val="dk1"/>
              </a:solidFill>
              <a:latin typeface="Calibri"/>
              <a:ea typeface="Calibri"/>
              <a:cs typeface="Calibri"/>
              <a:sym typeface="Calibri"/>
            </a:endParaRPr>
          </a:p>
        </p:txBody>
      </p:sp>
      <p:sp>
        <p:nvSpPr>
          <p:cNvPr id="276" name="Google Shape;276;p16"/>
          <p:cNvSpPr/>
          <p:nvPr/>
        </p:nvSpPr>
        <p:spPr>
          <a:xfrm>
            <a:off x="7670800" y="3438971"/>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Unstable as data shrinks</a:t>
            </a:r>
            <a:endParaRPr b="0" i="0" sz="1300" u="none" cap="none" strike="noStrike">
              <a:solidFill>
                <a:schemeClr val="dk1"/>
              </a:solidFill>
              <a:latin typeface="Calibri"/>
              <a:ea typeface="Calibri"/>
              <a:cs typeface="Calibri"/>
              <a:sym typeface="Calibri"/>
            </a:endParaRPr>
          </a:p>
        </p:txBody>
      </p:sp>
      <p:cxnSp>
        <p:nvCxnSpPr>
          <p:cNvPr id="277" name="Google Shape;277;p16"/>
          <p:cNvCxnSpPr/>
          <p:nvPr/>
        </p:nvCxnSpPr>
        <p:spPr>
          <a:xfrm>
            <a:off x="7531100" y="3822502"/>
            <a:ext cx="0" cy="495250"/>
          </a:xfrm>
          <a:prstGeom prst="straightConnector1">
            <a:avLst/>
          </a:prstGeom>
          <a:noFill/>
          <a:ln cap="flat" cmpd="sng" w="25400">
            <a:solidFill>
              <a:srgbClr val="D97706"/>
            </a:solidFill>
            <a:prstDash val="solid"/>
            <a:round/>
            <a:headEnd len="sm" w="sm" type="none"/>
            <a:tailEnd len="sm" w="sm" type="none"/>
          </a:ln>
        </p:spPr>
      </p:cxnSp>
      <p:sp>
        <p:nvSpPr>
          <p:cNvPr id="278" name="Google Shape;278;p16"/>
          <p:cNvSpPr/>
          <p:nvPr/>
        </p:nvSpPr>
        <p:spPr>
          <a:xfrm>
            <a:off x="7670800" y="3822502"/>
            <a:ext cx="3819652"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H-Index</a:t>
            </a:r>
            <a:endParaRPr b="0" i="0" sz="1400" u="none" cap="none" strike="noStrike">
              <a:solidFill>
                <a:schemeClr val="dk1"/>
              </a:solidFill>
              <a:latin typeface="Calibri"/>
              <a:ea typeface="Calibri"/>
              <a:cs typeface="Calibri"/>
              <a:sym typeface="Calibri"/>
            </a:endParaRPr>
          </a:p>
        </p:txBody>
      </p:sp>
      <p:sp>
        <p:nvSpPr>
          <p:cNvPr id="279" name="Google Shape;279;p16"/>
          <p:cNvSpPr/>
          <p:nvPr/>
        </p:nvSpPr>
        <p:spPr>
          <a:xfrm>
            <a:off x="7670800" y="4086622"/>
            <a:ext cx="381965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300"/>
              <a:buFont typeface="IBM Plex Sans"/>
              <a:buNone/>
            </a:pPr>
            <a:r>
              <a:rPr b="0" i="0" lang="en-US" sz="1300" u="none" cap="none" strike="noStrike">
                <a:solidFill>
                  <a:srgbClr val="0F1B2D"/>
                </a:solidFill>
                <a:latin typeface="IBM Plex Sans"/>
                <a:ea typeface="IBM Plex Sans"/>
                <a:cs typeface="IBM Plex Sans"/>
                <a:sym typeface="IBM Plex Sans"/>
              </a:rPr>
              <a:t>Lowest throughout</a:t>
            </a:r>
            <a:endParaRPr b="0" i="0" sz="1300" u="none" cap="none" strike="noStrike">
              <a:solidFill>
                <a:schemeClr val="dk1"/>
              </a:solidFill>
              <a:latin typeface="Calibri"/>
              <a:ea typeface="Calibri"/>
              <a:cs typeface="Calibri"/>
              <a:sym typeface="Calibri"/>
            </a:endParaRPr>
          </a:p>
        </p:txBody>
      </p:sp>
      <p:sp>
        <p:nvSpPr>
          <p:cNvPr id="280" name="Google Shape;280;p16"/>
          <p:cNvSpPr/>
          <p:nvPr/>
        </p:nvSpPr>
        <p:spPr>
          <a:xfrm>
            <a:off x="812800" y="6238280"/>
            <a:ext cx="326826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Less data needed → earlier intervention</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DF3"/>
        </a:solidFill>
      </p:bgPr>
    </p:bg>
    <p:spTree>
      <p:nvGrpSpPr>
        <p:cNvPr id="286" name="Shape 286"/>
        <p:cNvGrpSpPr/>
        <p:nvPr/>
      </p:nvGrpSpPr>
      <p:grpSpPr>
        <a:xfrm>
          <a:off x="0" y="0"/>
          <a:ext cx="0" cy="0"/>
          <a:chOff x="0" y="0"/>
          <a:chExt cx="0" cy="0"/>
        </a:xfrm>
      </p:grpSpPr>
      <p:sp>
        <p:nvSpPr>
          <p:cNvPr id="287" name="Google Shape;287;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IMPLICATIONS</a:t>
            </a:r>
            <a:endParaRPr b="0" i="0" sz="1200" u="none" cap="none" strike="noStrike">
              <a:solidFill>
                <a:schemeClr val="dk1"/>
              </a:solidFill>
              <a:latin typeface="Calibri"/>
              <a:ea typeface="Calibri"/>
              <a:cs typeface="Calibri"/>
              <a:sym typeface="Calibri"/>
            </a:endParaRPr>
          </a:p>
        </p:txBody>
      </p:sp>
      <p:sp>
        <p:nvSpPr>
          <p:cNvPr id="288" name="Google Shape;288;p17"/>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From rankings to moderation: one action per tier</a:t>
            </a:r>
            <a:endParaRPr b="0" i="0" sz="3200" u="none" cap="none" strike="noStrike">
              <a:solidFill>
                <a:schemeClr val="dk1"/>
              </a:solidFill>
              <a:latin typeface="Calibri"/>
              <a:ea typeface="Calibri"/>
              <a:cs typeface="Calibri"/>
              <a:sym typeface="Calibri"/>
            </a:endParaRPr>
          </a:p>
        </p:txBody>
      </p:sp>
      <p:sp>
        <p:nvSpPr>
          <p:cNvPr id="289" name="Google Shape;289;p17"/>
          <p:cNvSpPr/>
          <p:nvPr/>
        </p:nvSpPr>
        <p:spPr>
          <a:xfrm>
            <a:off x="812800" y="1879550"/>
            <a:ext cx="10566400" cy="995611"/>
          </a:xfrm>
          <a:prstGeom prst="roundRect">
            <a:avLst>
              <a:gd fmla="val 1020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7"/>
          <p:cNvSpPr/>
          <p:nvPr/>
        </p:nvSpPr>
        <p:spPr>
          <a:xfrm>
            <a:off x="812800" y="1879550"/>
            <a:ext cx="3302000" cy="995611"/>
          </a:xfrm>
          <a:prstGeom prst="roundRect">
            <a:avLst>
              <a:gd fmla="val 10205" name="adj"/>
            </a:avLst>
          </a:prstGeom>
          <a:solidFill>
            <a:srgbClr val="0F1B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1041400" y="2108150"/>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0" i="0" lang="en-US" sz="1200" u="none" cap="none" strike="noStrike">
                <a:solidFill>
                  <a:srgbClr val="2DD4BF"/>
                </a:solidFill>
                <a:latin typeface="IBM Plex Sans"/>
                <a:ea typeface="IBM Plex Sans"/>
                <a:cs typeface="IBM Plex Sans"/>
                <a:sym typeface="IBM Plex Sans"/>
              </a:rPr>
              <a:t>TOP RANKS</a:t>
            </a:r>
            <a:endParaRPr b="0" i="0" sz="1200" u="none" cap="none" strike="noStrike">
              <a:solidFill>
                <a:schemeClr val="dk1"/>
              </a:solidFill>
              <a:latin typeface="Calibri"/>
              <a:ea typeface="Calibri"/>
              <a:cs typeface="Calibri"/>
              <a:sym typeface="Calibri"/>
            </a:endParaRPr>
          </a:p>
        </p:txBody>
      </p:sp>
      <p:sp>
        <p:nvSpPr>
          <p:cNvPr id="292" name="Google Shape;292;p17"/>
          <p:cNvSpPr/>
          <p:nvPr/>
        </p:nvSpPr>
        <p:spPr>
          <a:xfrm>
            <a:off x="1041400" y="2372271"/>
            <a:ext cx="2930144"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7FA"/>
              </a:buClr>
              <a:buSzPts val="1800"/>
              <a:buFont typeface="IBM Plex Sans"/>
              <a:buNone/>
            </a:pPr>
            <a:r>
              <a:rPr b="1" i="0" lang="en-US" sz="1800" u="none" cap="none" strike="noStrike">
                <a:solidFill>
                  <a:srgbClr val="F4F7FA"/>
                </a:solidFill>
                <a:latin typeface="IBM Plex Sans"/>
                <a:ea typeface="IBM Plex Sans"/>
                <a:cs typeface="IBM Plex Sans"/>
                <a:sym typeface="IBM Plex Sans"/>
              </a:rPr>
              <a:t>Super-spreaders</a:t>
            </a:r>
            <a:endParaRPr b="0" i="0" sz="1800" u="none" cap="none" strike="noStrike">
              <a:solidFill>
                <a:schemeClr val="dk1"/>
              </a:solidFill>
              <a:latin typeface="Calibri"/>
              <a:ea typeface="Calibri"/>
              <a:cs typeface="Calibri"/>
              <a:sym typeface="Calibri"/>
            </a:endParaRPr>
          </a:p>
        </p:txBody>
      </p:sp>
      <p:sp>
        <p:nvSpPr>
          <p:cNvPr id="293" name="Google Shape;293;p17"/>
          <p:cNvSpPr/>
          <p:nvPr/>
        </p:nvSpPr>
        <p:spPr>
          <a:xfrm>
            <a:off x="4394200" y="2108150"/>
            <a:ext cx="690676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Targeted, preventive actions</a:t>
            </a:r>
            <a:endParaRPr b="0" i="0" sz="1400" u="none" cap="none" strike="noStrike">
              <a:solidFill>
                <a:schemeClr val="dk1"/>
              </a:solidFill>
              <a:latin typeface="Calibri"/>
              <a:ea typeface="Calibri"/>
              <a:cs typeface="Calibri"/>
              <a:sym typeface="Calibri"/>
            </a:endParaRPr>
          </a:p>
        </p:txBody>
      </p:sp>
      <p:sp>
        <p:nvSpPr>
          <p:cNvPr id="294" name="Google Shape;294;p17"/>
          <p:cNvSpPr/>
          <p:nvPr/>
        </p:nvSpPr>
        <p:spPr>
          <a:xfrm>
            <a:off x="4394200" y="2407841"/>
            <a:ext cx="6906768"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Closer moderation scrutiny, fact-checking overlays, temporary content restrictions</a:t>
            </a:r>
            <a:endParaRPr b="0" i="0" sz="1300" u="none" cap="none" strike="noStrike">
              <a:solidFill>
                <a:schemeClr val="dk1"/>
              </a:solidFill>
              <a:latin typeface="Calibri"/>
              <a:ea typeface="Calibri"/>
              <a:cs typeface="Calibri"/>
              <a:sym typeface="Calibri"/>
            </a:endParaRPr>
          </a:p>
        </p:txBody>
      </p:sp>
      <p:sp>
        <p:nvSpPr>
          <p:cNvPr id="295" name="Google Shape;295;p17"/>
          <p:cNvSpPr/>
          <p:nvPr/>
        </p:nvSpPr>
        <p:spPr>
          <a:xfrm>
            <a:off x="812800" y="3027561"/>
            <a:ext cx="10566400" cy="1269901"/>
          </a:xfrm>
          <a:prstGeom prst="roundRect">
            <a:avLst>
              <a:gd fmla="val 800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812800" y="3027561"/>
            <a:ext cx="3302000" cy="1269901"/>
          </a:xfrm>
          <a:prstGeom prst="roundRect">
            <a:avLst>
              <a:gd fmla="val 8001" name="adj"/>
            </a:avLst>
          </a:prstGeom>
          <a:solidFill>
            <a:srgbClr val="0F76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p:nvPr/>
        </p:nvSpPr>
        <p:spPr>
          <a:xfrm>
            <a:off x="1041400" y="3256161"/>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F2EE"/>
              </a:buClr>
              <a:buSzPts val="1200"/>
              <a:buFont typeface="IBM Plex Sans"/>
              <a:buNone/>
            </a:pPr>
            <a:r>
              <a:rPr b="0" i="0" lang="en-US" sz="1200" u="none" cap="none" strike="noStrike">
                <a:solidFill>
                  <a:srgbClr val="D9F2EE"/>
                </a:solidFill>
                <a:latin typeface="IBM Plex Sans"/>
                <a:ea typeface="IBM Plex Sans"/>
                <a:cs typeface="IBM Plex Sans"/>
                <a:sym typeface="IBM Plex Sans"/>
              </a:rPr>
              <a:t>MID AND LOWER RANKS</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1041400" y="3520281"/>
            <a:ext cx="2930144" cy="5739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800"/>
              <a:buFont typeface="IBM Plex Sans"/>
              <a:buNone/>
            </a:pPr>
            <a:r>
              <a:rPr b="1" i="0" lang="en-US" sz="1800" u="none" cap="none" strike="noStrike">
                <a:solidFill>
                  <a:srgbClr val="FFFFFF"/>
                </a:solidFill>
                <a:latin typeface="IBM Plex Sans"/>
                <a:ea typeface="IBM Plex Sans"/>
                <a:cs typeface="IBM Plex Sans"/>
                <a:sym typeface="IBM Plex Sans"/>
              </a:rPr>
              <a:t>Amplifiers and coordinated accounts</a:t>
            </a:r>
            <a:endParaRPr b="0" i="0" sz="1800" u="none" cap="none" strike="noStrike">
              <a:solidFill>
                <a:schemeClr val="dk1"/>
              </a:solidFill>
              <a:latin typeface="Calibri"/>
              <a:ea typeface="Calibri"/>
              <a:cs typeface="Calibri"/>
              <a:sym typeface="Calibri"/>
            </a:endParaRPr>
          </a:p>
        </p:txBody>
      </p:sp>
      <p:sp>
        <p:nvSpPr>
          <p:cNvPr id="299" name="Google Shape;299;p17"/>
          <p:cNvSpPr/>
          <p:nvPr/>
        </p:nvSpPr>
        <p:spPr>
          <a:xfrm>
            <a:off x="4394200" y="3256161"/>
            <a:ext cx="6906768"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Systemic measures</a:t>
            </a:r>
            <a:endParaRPr b="0" i="0" sz="1400" u="none" cap="none" strike="noStrike">
              <a:solidFill>
                <a:schemeClr val="dk1"/>
              </a:solidFill>
              <a:latin typeface="Calibri"/>
              <a:ea typeface="Calibri"/>
              <a:cs typeface="Calibri"/>
              <a:sym typeface="Calibri"/>
            </a:endParaRPr>
          </a:p>
        </p:txBody>
      </p:sp>
      <p:sp>
        <p:nvSpPr>
          <p:cNvPr id="300" name="Google Shape;300;p17"/>
          <p:cNvSpPr/>
          <p:nvPr/>
        </p:nvSpPr>
        <p:spPr>
          <a:xfrm>
            <a:off x="4394200" y="3555851"/>
            <a:ext cx="6906768"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300"/>
              <a:buFont typeface="IBM Plex Sans"/>
              <a:buNone/>
            </a:pPr>
            <a:r>
              <a:rPr b="0" i="0" lang="en-US" sz="1300" u="none" cap="none" strike="noStrike">
                <a:solidFill>
                  <a:srgbClr val="556372"/>
                </a:solidFill>
                <a:latin typeface="IBM Plex Sans"/>
                <a:ea typeface="IBM Plex Sans"/>
                <a:cs typeface="IBM Plex Sans"/>
                <a:sym typeface="IBM Plex Sans"/>
              </a:rPr>
              <a:t>Limit amplification of their posts, reduce recommendation exposure, add friction: share limits, warning prompts</a:t>
            </a:r>
            <a:endParaRPr b="0" i="0" sz="1300" u="none" cap="none" strike="noStrike">
              <a:solidFill>
                <a:schemeClr val="dk1"/>
              </a:solidFill>
              <a:latin typeface="Calibri"/>
              <a:ea typeface="Calibri"/>
              <a:cs typeface="Calibri"/>
              <a:sym typeface="Calibri"/>
            </a:endParaRPr>
          </a:p>
        </p:txBody>
      </p:sp>
      <p:sp>
        <p:nvSpPr>
          <p:cNvPr id="301" name="Google Shape;301;p17"/>
          <p:cNvSpPr/>
          <p:nvPr/>
        </p:nvSpPr>
        <p:spPr>
          <a:xfrm>
            <a:off x="812800" y="4602262"/>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1B2D"/>
              </a:buClr>
              <a:buSzPts val="1400"/>
              <a:buFont typeface="IBM Plex Sans"/>
              <a:buNone/>
            </a:pPr>
            <a:r>
              <a:rPr b="1" i="0" lang="en-US" sz="1400" u="none" cap="none" strike="noStrike">
                <a:solidFill>
                  <a:srgbClr val="0F1B2D"/>
                </a:solidFill>
                <a:latin typeface="IBM Plex Sans"/>
                <a:ea typeface="IBM Plex Sans"/>
                <a:cs typeface="IBM Plex Sans"/>
                <a:sym typeface="IBM Plex Sans"/>
              </a:rPr>
              <a:t>Decision support, not automatic bans:</a:t>
            </a:r>
            <a:r>
              <a:rPr b="0" i="0" lang="en-US" sz="1400" u="none" cap="none" strike="noStrike">
                <a:solidFill>
                  <a:srgbClr val="0F1B2D"/>
                </a:solidFill>
                <a:latin typeface="IBM Plex Sans"/>
                <a:ea typeface="IBM Plex Sans"/>
                <a:cs typeface="IBM Plex Sans"/>
                <a:sym typeface="IBM Plex Sans"/>
              </a:rPr>
              <a:t> humans stay in the loop, with auditability and a right to appeal.</a:t>
            </a:r>
            <a:endParaRPr b="0" i="0" sz="1400" u="none" cap="none" strike="noStrike">
              <a:solidFill>
                <a:schemeClr val="dk1"/>
              </a:solidFill>
              <a:latin typeface="Calibri"/>
              <a:ea typeface="Calibri"/>
              <a:cs typeface="Calibri"/>
              <a:sym typeface="Calibri"/>
            </a:endParaRPr>
          </a:p>
        </p:txBody>
      </p:sp>
      <p:sp>
        <p:nvSpPr>
          <p:cNvPr id="302" name="Google Shape;302;p17"/>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308" name="Shape 308"/>
        <p:cNvGrpSpPr/>
        <p:nvPr/>
      </p:nvGrpSpPr>
      <p:grpSpPr>
        <a:xfrm>
          <a:off x="0" y="0"/>
          <a:ext cx="0" cy="0"/>
          <a:chOff x="0" y="0"/>
          <a:chExt cx="0" cy="0"/>
        </a:xfrm>
      </p:grpSpPr>
      <p:sp>
        <p:nvSpPr>
          <p:cNvPr id="309" name="Google Shape;309;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766E"/>
              </a:buClr>
              <a:buSzPts val="1200"/>
              <a:buFont typeface="IBM Plex Sans"/>
              <a:buNone/>
            </a:pPr>
            <a:r>
              <a:rPr b="1" i="0" lang="en-US" sz="1200" u="none" cap="none" strike="noStrike">
                <a:solidFill>
                  <a:srgbClr val="0F766E"/>
                </a:solidFill>
                <a:latin typeface="IBM Plex Sans"/>
                <a:ea typeface="IBM Plex Sans"/>
                <a:cs typeface="IBM Plex Sans"/>
                <a:sym typeface="IBM Plex Sans"/>
              </a:rPr>
              <a:t>DISCUSSION</a:t>
            </a:r>
            <a:endParaRPr b="0" i="0" sz="1200" u="none" cap="none" strike="noStrike">
              <a:solidFill>
                <a:schemeClr val="dk1"/>
              </a:solidFill>
              <a:latin typeface="Calibri"/>
              <a:ea typeface="Calibri"/>
              <a:cs typeface="Calibri"/>
              <a:sym typeface="Calibri"/>
            </a:endParaRPr>
          </a:p>
        </p:txBody>
      </p:sp>
      <p:sp>
        <p:nvSpPr>
          <p:cNvPr id="310" name="Google Shape;310;p18"/>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1B2D"/>
              </a:buClr>
              <a:buSzPts val="3200"/>
              <a:buFont typeface="Fraunces"/>
              <a:buNone/>
            </a:pPr>
            <a:r>
              <a:rPr b="0" i="0" lang="en-US" sz="3200" u="none" cap="none" strike="noStrike">
                <a:solidFill>
                  <a:srgbClr val="0F1B2D"/>
                </a:solidFill>
                <a:latin typeface="Fraunces"/>
                <a:ea typeface="Fraunces"/>
                <a:cs typeface="Fraunces"/>
                <a:sym typeface="Fraunces"/>
              </a:rPr>
              <a:t>Limitations, our critique and future work</a:t>
            </a:r>
            <a:endParaRPr b="0" i="0" sz="3200" u="none" cap="none" strike="noStrike">
              <a:solidFill>
                <a:schemeClr val="dk1"/>
              </a:solidFill>
              <a:latin typeface="Calibri"/>
              <a:ea typeface="Calibri"/>
              <a:cs typeface="Calibri"/>
              <a:sym typeface="Calibri"/>
            </a:endParaRPr>
          </a:p>
        </p:txBody>
      </p:sp>
      <p:sp>
        <p:nvSpPr>
          <p:cNvPr id="311" name="Google Shape;311;p18"/>
          <p:cNvSpPr/>
          <p:nvPr/>
        </p:nvSpPr>
        <p:spPr>
          <a:xfrm>
            <a:off x="8159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10477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766E"/>
              </a:buClr>
              <a:buSzPts val="1800"/>
              <a:buFont typeface="Fraunces"/>
              <a:buNone/>
            </a:pPr>
            <a:r>
              <a:rPr b="1" i="0" lang="en-US" sz="1800" u="none" cap="none" strike="noStrike">
                <a:solidFill>
                  <a:srgbClr val="0F766E"/>
                </a:solidFill>
                <a:latin typeface="Fraunces"/>
                <a:ea typeface="Fraunces"/>
                <a:cs typeface="Fraunces"/>
                <a:sym typeface="Fraunces"/>
              </a:rPr>
              <a:t>Limitations</a:t>
            </a:r>
            <a:endParaRPr b="0" i="0" sz="1800" u="none" cap="none" strike="noStrike">
              <a:solidFill>
                <a:schemeClr val="dk1"/>
              </a:solidFill>
              <a:latin typeface="Calibri"/>
              <a:ea typeface="Calibri"/>
              <a:cs typeface="Calibri"/>
              <a:sym typeface="Calibri"/>
            </a:endParaRPr>
          </a:p>
        </p:txBody>
      </p:sp>
      <p:sp>
        <p:nvSpPr>
          <p:cNvPr id="313" name="Google Shape;313;p18"/>
          <p:cNvSpPr/>
          <p:nvPr/>
        </p:nvSpPr>
        <p:spPr>
          <a:xfrm>
            <a:off x="1070356" y="2515791"/>
            <a:ext cx="2993771" cy="194528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Only direct reshares; who actually saw a post is unknown</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Credibility judged per domain, not per post</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New users can’t be ranked: 2.9% (VaccinItaly) and 4.8% (Multilanguage) of misinformation is never removable</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Static dismantling ignores how users react to moderation</a:t>
            </a:r>
            <a:endParaRPr b="0" i="0" sz="1200" u="none" cap="none" strike="noStrike">
              <a:solidFill>
                <a:schemeClr val="dk1"/>
              </a:solidFill>
              <a:latin typeface="Calibri"/>
              <a:ea typeface="Calibri"/>
              <a:cs typeface="Calibri"/>
              <a:sym typeface="Calibri"/>
            </a:endParaRPr>
          </a:p>
        </p:txBody>
      </p:sp>
      <p:sp>
        <p:nvSpPr>
          <p:cNvPr id="314" name="Google Shape;314;p18"/>
          <p:cNvSpPr/>
          <p:nvPr/>
        </p:nvSpPr>
        <p:spPr>
          <a:xfrm>
            <a:off x="43973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46291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3FC4"/>
              </a:buClr>
              <a:buSzPts val="1800"/>
              <a:buFont typeface="Fraunces"/>
              <a:buNone/>
            </a:pPr>
            <a:r>
              <a:rPr b="1" i="0" lang="en-US" sz="1800" u="none" cap="none" strike="noStrike">
                <a:solidFill>
                  <a:srgbClr val="5B3FC4"/>
                </a:solidFill>
                <a:latin typeface="Fraunces"/>
                <a:ea typeface="Fraunces"/>
                <a:cs typeface="Fraunces"/>
                <a:sym typeface="Fraunces"/>
              </a:rPr>
              <a:t>Our critique</a:t>
            </a:r>
            <a:endParaRPr b="0" i="0" sz="1800" u="none" cap="none" strike="noStrike">
              <a:solidFill>
                <a:schemeClr val="dk1"/>
              </a:solidFill>
              <a:latin typeface="Calibri"/>
              <a:ea typeface="Calibri"/>
              <a:cs typeface="Calibri"/>
              <a:sym typeface="Calibri"/>
            </a:endParaRPr>
          </a:p>
        </p:txBody>
      </p:sp>
      <p:sp>
        <p:nvSpPr>
          <p:cNvPr id="316" name="Google Shape;316;p18"/>
          <p:cNvSpPr/>
          <p:nvPr/>
        </p:nvSpPr>
        <p:spPr>
          <a:xfrm>
            <a:off x="4651756" y="2515791"/>
            <a:ext cx="2993771" cy="173196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Intent is ignored: careless sharers and campaigners look alike</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Users missing from the test period count as zero harm</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A pre-trained model may drift as behavior changes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Twitter and COVID-19 only; other platforms and topics untested</a:t>
            </a:r>
            <a:endParaRPr b="0" i="0" sz="1200" u="none" cap="none" strike="noStrike">
              <a:solidFill>
                <a:schemeClr val="dk1"/>
              </a:solidFill>
              <a:latin typeface="Calibri"/>
              <a:ea typeface="Calibri"/>
              <a:cs typeface="Calibri"/>
              <a:sym typeface="Calibri"/>
            </a:endParaRPr>
          </a:p>
        </p:txBody>
      </p:sp>
      <p:sp>
        <p:nvSpPr>
          <p:cNvPr id="317" name="Google Shape;317;p18"/>
          <p:cNvSpPr/>
          <p:nvPr/>
        </p:nvSpPr>
        <p:spPr>
          <a:xfrm>
            <a:off x="7978775" y="1882725"/>
            <a:ext cx="3397200" cy="3026100"/>
          </a:xfrm>
          <a:prstGeom prst="roundRect">
            <a:avLst>
              <a:gd fmla="val 3534" name="adj"/>
            </a:avLst>
          </a:prstGeom>
          <a:solidFill>
            <a:srgbClr val="FFFFFF"/>
          </a:solidFill>
          <a:ln cap="flat" cmpd="sng" w="9525">
            <a:solidFill>
              <a:srgbClr val="D3D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8210550" y="2114500"/>
            <a:ext cx="3021711"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1B2D"/>
              </a:buClr>
              <a:buSzPts val="1800"/>
              <a:buFont typeface="Fraunces"/>
              <a:buNone/>
            </a:pPr>
            <a:r>
              <a:rPr b="1" i="0" lang="en-US" sz="1800" u="none" cap="none" strike="noStrike">
                <a:solidFill>
                  <a:srgbClr val="0F1B2D"/>
                </a:solidFill>
                <a:latin typeface="Fraunces"/>
                <a:ea typeface="Fraunces"/>
                <a:cs typeface="Fraunces"/>
                <a:sym typeface="Fraunces"/>
              </a:rPr>
              <a:t>Future work</a:t>
            </a:r>
            <a:endParaRPr b="0" i="0" sz="1800" u="none" cap="none" strike="noStrike">
              <a:solidFill>
                <a:schemeClr val="dk1"/>
              </a:solidFill>
              <a:latin typeface="Calibri"/>
              <a:ea typeface="Calibri"/>
              <a:cs typeface="Calibri"/>
              <a:sym typeface="Calibri"/>
            </a:endParaRPr>
          </a:p>
        </p:txBody>
      </p:sp>
      <p:sp>
        <p:nvSpPr>
          <p:cNvPr id="319" name="Google Shape;319;p18"/>
          <p:cNvSpPr/>
          <p:nvPr/>
        </p:nvSpPr>
        <p:spPr>
          <a:xfrm>
            <a:off x="8233156" y="2515791"/>
            <a:ext cx="2993771" cy="1731963"/>
          </a:xfrm>
          <a:prstGeom prst="rect">
            <a:avLst/>
          </a:prstGeom>
          <a:noFill/>
          <a:ln>
            <a:noFill/>
          </a:ln>
        </p:spPr>
        <p:txBody>
          <a:bodyPr anchorCtr="0" anchor="t" bIns="0" lIns="0" spcFirstLastPara="1" rIns="0" wrap="square" tIns="0">
            <a:noAutofit/>
          </a:bodyPr>
          <a:lstStyle/>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Integrate TASH into graph neural networks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Adaptive tuning of α and δ, e.g. Bayesian optimization</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Multi-platform data; inductive models for new users</a:t>
            </a:r>
            <a:endParaRPr b="0" i="0" sz="1200" u="none" cap="none" strike="noStrike">
              <a:solidFill>
                <a:schemeClr val="dk1"/>
              </a:solidFill>
              <a:latin typeface="Calibri"/>
              <a:ea typeface="Calibri"/>
              <a:cs typeface="Calibri"/>
              <a:sym typeface="Calibri"/>
            </a:endParaRPr>
          </a:p>
          <a:p>
            <a:pPr indent="-155194" lvl="0" marL="155194" marR="0" rtl="0" algn="l">
              <a:lnSpc>
                <a:spcPct val="140000"/>
              </a:lnSpc>
              <a:spcBef>
                <a:spcPts val="0"/>
              </a:spcBef>
              <a:spcAft>
                <a:spcPts val="0"/>
              </a:spcAft>
              <a:buClr>
                <a:srgbClr val="0F1B2D"/>
              </a:buClr>
              <a:buSzPts val="1200"/>
              <a:buFont typeface="IBM Plex Sans"/>
              <a:buChar char="•"/>
            </a:pPr>
            <a:r>
              <a:rPr b="0" i="0" lang="en-US" sz="1200" u="none" cap="none" strike="noStrike">
                <a:solidFill>
                  <a:srgbClr val="0F1B2D"/>
                </a:solidFill>
                <a:latin typeface="IBM Plex Sans"/>
                <a:ea typeface="IBM Plex Sans"/>
                <a:cs typeface="IBM Plex Sans"/>
                <a:sym typeface="IBM Plex Sans"/>
              </a:rPr>
              <a:t>Simulations of interventions’ long-term effects</a:t>
            </a:r>
            <a:endParaRPr b="0" i="0" sz="1200" u="none" cap="none" strike="noStrike">
              <a:solidFill>
                <a:schemeClr val="dk1"/>
              </a:solidFill>
              <a:latin typeface="Calibri"/>
              <a:ea typeface="Calibri"/>
              <a:cs typeface="Calibri"/>
              <a:sym typeface="Calibri"/>
            </a:endParaRPr>
          </a:p>
        </p:txBody>
      </p:sp>
      <p:sp>
        <p:nvSpPr>
          <p:cNvPr id="320" name="Google Shape;320;p18"/>
          <p:cNvSpPr/>
          <p:nvPr/>
        </p:nvSpPr>
        <p:spPr>
          <a:xfrm>
            <a:off x="812800" y="6238280"/>
            <a:ext cx="360878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Verdolotti, Luceri &amp; Giordano · OSNEM 2025</a:t>
            </a:r>
            <a:endParaRPr b="0" i="0" sz="1200" u="none" cap="none" strike="noStrike">
              <a:solidFill>
                <a:schemeClr val="dk1"/>
              </a:solidFill>
              <a:latin typeface="Calibri"/>
              <a:ea typeface="Calibri"/>
              <a:cs typeface="Calibri"/>
              <a:sym typeface="Calibri"/>
            </a:endParaRPr>
          </a:p>
        </p:txBody>
      </p:sp>
      <p:sp>
        <p:nvSpPr>
          <p:cNvPr id="321" name="Google Shape;321;p18"/>
          <p:cNvSpPr/>
          <p:nvPr/>
        </p:nvSpPr>
        <p:spPr>
          <a:xfrm>
            <a:off x="11145490" y="6238280"/>
            <a:ext cx="23371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56372"/>
              </a:buClr>
              <a:buSzPts val="1200"/>
              <a:buFont typeface="IBM Plex Sans"/>
              <a:buNone/>
            </a:pPr>
            <a:r>
              <a:rPr b="0" i="0" lang="en-US" sz="1200" u="none" cap="none" strike="noStrike">
                <a:solidFill>
                  <a:srgbClr val="556372"/>
                </a:solidFill>
                <a:latin typeface="IBM Plex Sans"/>
                <a:ea typeface="IBM Plex Sans"/>
                <a:cs typeface="IBM Plex Sans"/>
                <a:sym typeface="IBM Plex Sans"/>
              </a:rPr>
              <a:t>1</a:t>
            </a:r>
            <a:r>
              <a:rPr lang="en-US" sz="1200">
                <a:solidFill>
                  <a:srgbClr val="556372"/>
                </a:solidFill>
                <a:latin typeface="IBM Plex Sans"/>
                <a:ea typeface="IBM Plex Sans"/>
                <a:cs typeface="IBM Plex Sans"/>
                <a:sym typeface="IBM Plex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326" name="Shape 326"/>
        <p:cNvGrpSpPr/>
        <p:nvPr/>
      </p:nvGrpSpPr>
      <p:grpSpPr>
        <a:xfrm>
          <a:off x="0" y="0"/>
          <a:ext cx="0" cy="0"/>
          <a:chOff x="0" y="0"/>
          <a:chExt cx="0" cy="0"/>
        </a:xfrm>
      </p:grpSpPr>
      <p:sp>
        <p:nvSpPr>
          <p:cNvPr id="327" name="Google Shape;327;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DD4BF"/>
              </a:buClr>
              <a:buSzPts val="1200"/>
              <a:buFont typeface="IBM Plex Sans"/>
              <a:buNone/>
            </a:pPr>
            <a:r>
              <a:rPr b="1" i="0" lang="en-US" sz="1200" u="none" cap="none" strike="noStrike">
                <a:solidFill>
                  <a:srgbClr val="2DD4BF"/>
                </a:solidFill>
                <a:latin typeface="IBM Plex Sans"/>
                <a:ea typeface="IBM Plex Sans"/>
                <a:cs typeface="IBM Plex Sans"/>
                <a:sym typeface="IBM Plex Sans"/>
              </a:rPr>
              <a:t>TAKEAWAYS</a:t>
            </a:r>
            <a:endParaRPr b="0" i="0" sz="1200" u="none" cap="none" strike="noStrike">
              <a:solidFill>
                <a:schemeClr val="dk1"/>
              </a:solidFill>
              <a:latin typeface="Calibri"/>
              <a:ea typeface="Calibri"/>
              <a:cs typeface="Calibri"/>
              <a:sym typeface="Calibri"/>
            </a:endParaRPr>
          </a:p>
        </p:txBody>
      </p:sp>
      <p:sp>
        <p:nvSpPr>
          <p:cNvPr id="328" name="Google Shape;328;p19"/>
          <p:cNvSpPr/>
          <p:nvPr/>
        </p:nvSpPr>
        <p:spPr>
          <a:xfrm>
            <a:off x="812800" y="1127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4F7FA"/>
              </a:buClr>
              <a:buSzPts val="3200"/>
              <a:buFont typeface="Fraunces"/>
              <a:buNone/>
            </a:pPr>
            <a:r>
              <a:rPr b="0" i="0" lang="en-US" sz="3200" u="none" cap="none" strike="noStrike">
                <a:solidFill>
                  <a:srgbClr val="F4F7FA"/>
                </a:solidFill>
                <a:latin typeface="Fraunces"/>
                <a:ea typeface="Fraunces"/>
                <a:cs typeface="Fraunces"/>
                <a:sym typeface="Fraunces"/>
              </a:rPr>
              <a:t>What we learn from this paper</a:t>
            </a:r>
            <a:endParaRPr b="0" i="0" sz="3200" u="none" cap="none" strike="noStrike">
              <a:solidFill>
                <a:schemeClr val="dk1"/>
              </a:solidFill>
              <a:latin typeface="Calibri"/>
              <a:ea typeface="Calibri"/>
              <a:cs typeface="Calibri"/>
              <a:sym typeface="Calibri"/>
            </a:endParaRPr>
          </a:p>
        </p:txBody>
      </p:sp>
      <p:sp>
        <p:nvSpPr>
          <p:cNvPr id="329" name="Google Shape;329;p19"/>
          <p:cNvSpPr/>
          <p:nvPr/>
        </p:nvSpPr>
        <p:spPr>
          <a:xfrm>
            <a:off x="812800" y="2082750"/>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1</a:t>
            </a:r>
            <a:endParaRPr b="0" i="0" sz="2800" u="none" cap="none" strike="noStrike">
              <a:solidFill>
                <a:schemeClr val="dk1"/>
              </a:solidFill>
              <a:latin typeface="Calibri"/>
              <a:ea typeface="Calibri"/>
              <a:cs typeface="Calibri"/>
              <a:sym typeface="Calibri"/>
            </a:endParaRPr>
          </a:p>
        </p:txBody>
      </p:sp>
      <p:sp>
        <p:nvSpPr>
          <p:cNvPr id="330" name="Google Shape;330;p19"/>
          <p:cNvSpPr/>
          <p:nvPr/>
        </p:nvSpPr>
        <p:spPr>
          <a:xfrm>
            <a:off x="1574800" y="2082750"/>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A few users drive most misinformation.</a:t>
            </a:r>
            <a:r>
              <a:rPr b="0" i="0" lang="en-US" sz="1700" u="none" cap="none" strike="noStrike">
                <a:solidFill>
                  <a:srgbClr val="F4F7FA"/>
                </a:solidFill>
                <a:latin typeface="IBM Plex Sans"/>
                <a:ea typeface="IBM Plex Sans"/>
                <a:cs typeface="IBM Plex Sans"/>
                <a:sym typeface="IBM Plex Sans"/>
              </a:rPr>
              <a:t> Super-spreaders dominate the top ranks; amplifiers and coordinated accounts sustain the spread further down.</a:t>
            </a:r>
            <a:endParaRPr b="0" i="0" sz="1700" u="none" cap="none" strike="noStrike">
              <a:solidFill>
                <a:schemeClr val="dk1"/>
              </a:solidFill>
              <a:latin typeface="Calibri"/>
              <a:ea typeface="Calibri"/>
              <a:cs typeface="Calibri"/>
              <a:sym typeface="Calibri"/>
            </a:endParaRPr>
          </a:p>
        </p:txBody>
      </p:sp>
      <p:sp>
        <p:nvSpPr>
          <p:cNvPr id="331" name="Google Shape;331;p19"/>
          <p:cNvSpPr/>
          <p:nvPr/>
        </p:nvSpPr>
        <p:spPr>
          <a:xfrm>
            <a:off x="812800" y="2991991"/>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2</a:t>
            </a:r>
            <a:endParaRPr b="0" i="0" sz="2800" u="none" cap="none" strike="noStrike">
              <a:solidFill>
                <a:schemeClr val="dk1"/>
              </a:solidFill>
              <a:latin typeface="Calibri"/>
              <a:ea typeface="Calibri"/>
              <a:cs typeface="Calibri"/>
              <a:sym typeface="Calibri"/>
            </a:endParaRPr>
          </a:p>
        </p:txBody>
      </p:sp>
      <p:sp>
        <p:nvSpPr>
          <p:cNvPr id="332" name="Google Shape;332;p19"/>
          <p:cNvSpPr/>
          <p:nvPr/>
        </p:nvSpPr>
        <p:spPr>
          <a:xfrm>
            <a:off x="1574800" y="2991991"/>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Time matters.</a:t>
            </a:r>
            <a:r>
              <a:rPr b="0" i="0" lang="en-US" sz="1700" u="none" cap="none" strike="noStrike">
                <a:solidFill>
                  <a:srgbClr val="F4F7FA"/>
                </a:solidFill>
                <a:latin typeface="IBM Plex Sans"/>
                <a:ea typeface="IBM Plex Sans"/>
                <a:cs typeface="IBM Plex Sans"/>
                <a:sym typeface="IBM Plex Sans"/>
              </a:rPr>
              <a:t> The simple, interpretable TASH-Index nearly matches ML and stays robust with little data.</a:t>
            </a:r>
            <a:endParaRPr b="0" i="0" sz="1700" u="none" cap="none" strike="noStrike">
              <a:solidFill>
                <a:schemeClr val="dk1"/>
              </a:solidFill>
              <a:latin typeface="Calibri"/>
              <a:ea typeface="Calibri"/>
              <a:cs typeface="Calibri"/>
              <a:sym typeface="Calibri"/>
            </a:endParaRPr>
          </a:p>
        </p:txBody>
      </p:sp>
      <p:sp>
        <p:nvSpPr>
          <p:cNvPr id="333" name="Google Shape;333;p19"/>
          <p:cNvSpPr/>
          <p:nvPr/>
        </p:nvSpPr>
        <p:spPr>
          <a:xfrm>
            <a:off x="812800" y="3901232"/>
            <a:ext cx="5588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D4BF"/>
              </a:buClr>
              <a:buSzPts val="2800"/>
              <a:buFont typeface="Fraunces"/>
              <a:buNone/>
            </a:pPr>
            <a:r>
              <a:rPr b="1" i="0" lang="en-US" sz="2800" u="none" cap="none" strike="noStrike">
                <a:solidFill>
                  <a:srgbClr val="2DD4BF"/>
                </a:solidFill>
                <a:latin typeface="Fraunces"/>
                <a:ea typeface="Fraunces"/>
                <a:cs typeface="Fraunces"/>
                <a:sym typeface="Fraunces"/>
              </a:rPr>
              <a:t>3</a:t>
            </a:r>
            <a:endParaRPr b="0" i="0" sz="2800" u="none" cap="none" strike="noStrike">
              <a:solidFill>
                <a:schemeClr val="dk1"/>
              </a:solidFill>
              <a:latin typeface="Calibri"/>
              <a:ea typeface="Calibri"/>
              <a:cs typeface="Calibri"/>
              <a:sym typeface="Calibri"/>
            </a:endParaRPr>
          </a:p>
        </p:txBody>
      </p:sp>
      <p:sp>
        <p:nvSpPr>
          <p:cNvPr id="334" name="Google Shape;334;p19"/>
          <p:cNvSpPr/>
          <p:nvPr/>
        </p:nvSpPr>
        <p:spPr>
          <a:xfrm>
            <a:off x="1574800" y="3901232"/>
            <a:ext cx="10098532" cy="6298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7FA"/>
              </a:buClr>
              <a:buSzPts val="1700"/>
              <a:buFont typeface="IBM Plex Sans"/>
              <a:buNone/>
            </a:pPr>
            <a:r>
              <a:rPr b="1" i="0" lang="en-US" sz="1700" u="none" cap="none" strike="noStrike">
                <a:solidFill>
                  <a:srgbClr val="F4F7FA"/>
                </a:solidFill>
                <a:latin typeface="IBM Plex Sans"/>
                <a:ea typeface="IBM Plex Sans"/>
                <a:cs typeface="IBM Plex Sans"/>
                <a:sym typeface="IBM Plex Sans"/>
              </a:rPr>
              <a:t>Explainable rankings support human moderators</a:t>
            </a:r>
            <a:r>
              <a:rPr b="0" i="0" lang="en-US" sz="1700" u="none" cap="none" strike="noStrike">
                <a:solidFill>
                  <a:srgbClr val="F4F7FA"/>
                </a:solidFill>
                <a:latin typeface="IBM Plex Sans"/>
                <a:ea typeface="IBM Plex Sans"/>
                <a:cs typeface="IBM Plex Sans"/>
                <a:sym typeface="IBM Plex Sans"/>
              </a:rPr>
              <a:t> — closer review for top spreaders, friction such as share limits for amplifiers.</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339" name="Shape 339"/>
        <p:cNvGrpSpPr/>
        <p:nvPr/>
      </p:nvGrpSpPr>
      <p:grpSpPr>
        <a:xfrm>
          <a:off x="0" y="0"/>
          <a:ext cx="0" cy="0"/>
          <a:chOff x="0" y="0"/>
          <a:chExt cx="0" cy="0"/>
        </a:xfrm>
      </p:grpSpPr>
      <p:pic>
        <p:nvPicPr>
          <p:cNvPr descr="Network motif: one teal hub node spreading edges to surrounding nodes" id="340" name="Google Shape;340;p20"/>
          <p:cNvPicPr preferRelativeResize="0"/>
          <p:nvPr/>
        </p:nvPicPr>
        <p:blipFill rotWithShape="1">
          <a:blip r:embed="rId3">
            <a:alphaModFix/>
          </a:blip>
          <a:srcRect b="0" l="0" r="0" t="0"/>
          <a:stretch/>
        </p:blipFill>
        <p:spPr>
          <a:xfrm>
            <a:off x="8128000" y="2032000"/>
            <a:ext cx="2794000" cy="2794000"/>
          </a:xfrm>
          <a:prstGeom prst="rect">
            <a:avLst/>
          </a:prstGeom>
          <a:noFill/>
          <a:ln>
            <a:noFill/>
          </a:ln>
        </p:spPr>
      </p:pic>
      <p:sp>
        <p:nvSpPr>
          <p:cNvPr id="341" name="Google Shape;341;p20"/>
          <p:cNvSpPr/>
          <p:nvPr/>
        </p:nvSpPr>
        <p:spPr>
          <a:xfrm>
            <a:off x="812800" y="2621260"/>
            <a:ext cx="10883392" cy="93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7FA"/>
              </a:buClr>
              <a:buSzPts val="7200"/>
              <a:buFont typeface="Fraunces"/>
              <a:buNone/>
            </a:pPr>
            <a:r>
              <a:rPr b="0" i="0" lang="en-US" sz="7200" u="none" cap="none" strike="noStrike">
                <a:solidFill>
                  <a:srgbClr val="F4F7FA"/>
                </a:solidFill>
                <a:latin typeface="Fraunces"/>
                <a:ea typeface="Fraunces"/>
                <a:cs typeface="Fraunces"/>
                <a:sym typeface="Fraunces"/>
              </a:rPr>
              <a:t>Thank you</a:t>
            </a:r>
            <a:endParaRPr b="0" i="0" sz="7200" u="none" cap="none" strike="noStrike">
              <a:solidFill>
                <a:schemeClr val="dk1"/>
              </a:solidFill>
              <a:latin typeface="Calibri"/>
              <a:ea typeface="Calibri"/>
              <a:cs typeface="Calibri"/>
              <a:sym typeface="Calibri"/>
            </a:endParaRPr>
          </a:p>
        </p:txBody>
      </p:sp>
      <p:sp>
        <p:nvSpPr>
          <p:cNvPr id="342" name="Google Shape;342;p20"/>
          <p:cNvSpPr/>
          <p:nvPr/>
        </p:nvSpPr>
        <p:spPr>
          <a:xfrm>
            <a:off x="812800" y="378966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DD4BF"/>
              </a:buClr>
              <a:buSzPts val="3200"/>
              <a:buFont typeface="Fraunces"/>
              <a:buNone/>
            </a:pPr>
            <a:r>
              <a:rPr b="0" i="1" lang="en-US" sz="3200" u="none" cap="none" strike="noStrike">
                <a:solidFill>
                  <a:srgbClr val="2DD4BF"/>
                </a:solidFill>
                <a:latin typeface="Fraunces"/>
                <a:ea typeface="Fraunces"/>
                <a:cs typeface="Fraunces"/>
                <a:sym typeface="Fraunces"/>
              </a:rPr>
              <a:t>Questions?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